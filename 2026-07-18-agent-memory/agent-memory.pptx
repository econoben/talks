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55aff8e80_2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g3f55aff8e80_2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 want to start with a timeout—not with an architecture diagram or a definition of memory.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timeout forces an agent to act under uncertainty: what happened, what evidence should it trust, what should it do next, and should anything from this encounter survive?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Over the next half hour, we will follow one purchasing incident from a duplicate charge to a future agent that behaves correctly because the right evidence survived.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“Managed commitment” is my shorthand for this talk: carrying information forward commits the system to what future work may rely on. It is a synthesis for today, not a formal definition from the book.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Before we follow that incident, a quick introduction.</a:t>
            </a:r>
            <a:endParaRPr/>
          </a:p>
        </p:txBody>
      </p:sp>
      <p:sp>
        <p:nvSpPr>
          <p:cNvPr id="55" name="Google Shape;55;g3f55aff8e80_2_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55aff8e80_2_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 name="Google Shape;84;g3f55aff8e80_2_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I’m Ben Labaschin. I’m a Head of AI and Engineering AI / ML Engineer, and I’m writing *Agent Memory* for O’Reilly.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My work sits where models meet tools, data, state, and the operational systems around them. I’m especially interested in agents that need to remember across boundaries without becoming opaque or ungovernable.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talk distills the learning arc across the first three chapters into one incident we can follow end to 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So let’s look at the smallest plausible fix—and why it is wrong.</a:t>
            </a:r>
            <a:endParaRPr/>
          </a:p>
        </p:txBody>
      </p:sp>
      <p:sp>
        <p:nvSpPr>
          <p:cNvPr id="85" name="Google Shape;85;g3f55aff8e80_2_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55aff8e80_0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g3f55aff8e80_0_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I’m Ben Labaschin. I’m a Head of AI and Engineering AI / ML Engineer, and I’m writing *Agent Memory* for O’Reilly.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My work sits where models meet tools, data, state, and the operational systems around them. I’m especially interested in agents that need to remember across boundaries without becoming opaque or ungovernable.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talk distills the learning arc across the first three chapters into one incident we can follow end to end.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So let’s look at the smallest plausible fix—and why it is wrong.</a:t>
            </a:r>
            <a:endParaRPr/>
          </a:p>
        </p:txBody>
      </p:sp>
      <p:sp>
        <p:nvSpPr>
          <p:cNvPr id="110" name="Google Shape;110;g3f55aff8e80_0_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55aff8e80_2_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g3f55aff8e80_2_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is the fix almost every engineer has either written or reviewed: call the purchasing API; if it times out, try again.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It looks responsible. The request did not return. We have a retry budget. The purchase is important. So we make a second call.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But notice what the code assumes. It treats “I did not receive a response” as equivalent to “the operation did not happen.” Those are not the same statement.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With a read, the distinction may be annoying. With a billable write, it is dangerous. The server may have accepted the purchase, committed it, and then lost the response somewhere between the service and the caller. Our agent sees uncertainty. The vendor may already see a successful charge.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interesting failure is not that the model lacks intelligence. The code has given it an impoverished action space: success, known failure, or retry. It has no durable operation identity and no way to reconcile an ambiguous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That turns one missing response into two real charges.</a:t>
            </a:r>
            <a:endParaRPr/>
          </a:p>
        </p:txBody>
      </p:sp>
      <p:sp>
        <p:nvSpPr>
          <p:cNvPr id="121" name="Google Shape;121;g3f55aff8e80_2_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55aff8e80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g3f55aff8e80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is the fix almost every engineer has either written or reviewed: call the purchasing API; if it times out, try again.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It looks responsible. The request did not return. We have a retry budget. The purchase is important. So we make a second call.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But notice what the code assumes. It treats “I did not receive a response” as equivalent to “the operation did not happen.” Those are not the same statement.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With a read, the distinction may be annoying. With a billable write, it is dangerous. The server may have accepted the purchase, committed it, and then lost the response somewhere between the service and the caller. Our agent sees uncertainty. The vendor may already see a successful charge.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interesting failure is not that the model lacks intelligence. The code has given it an impoverished action space: success, known failure, or retry. It has no durable operation identity and no way to reconcile an ambiguous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That turns one missing response into two real charges.</a:t>
            </a:r>
            <a:endParaRPr/>
          </a:p>
        </p:txBody>
      </p:sp>
      <p:sp>
        <p:nvSpPr>
          <p:cNvPr id="143" name="Google Shape;143;g3f55aff8e80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55aff8e80_2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g3f55aff8e80_2_7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Walk from left to right with me.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agent sends the first purchase request. The service accepts it and commits the charge. The response is lost, so the agent observes a timeout. Then the retry path creates a fresh request, often with a fresh identifier, and the service accepts that one too.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agent can honestly report, “I only saw one success.” The customer can equally honestly report, “I was charged twice.”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is the first important idea in the talk: an agent’s observation is not the world. A timeout is evidence about the communication path. It is not proof about the state transition on the other side.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Once we say that clearly, “retry” stops being the complete solution. We need a stable identity for the purchase intent so both attempts refer to the same operation. And after an ambiguous outcome, we need reconciliation: inspect authoritative state before deciding whether another side effect is safe.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engineering correction matters immediately. But we are not at memory yet. Right now, we have changed one execution path.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The next question is whether the corrected harness changes what the same model can do.</a:t>
            </a:r>
            <a:endParaRPr/>
          </a:p>
        </p:txBody>
      </p:sp>
      <p:sp>
        <p:nvSpPr>
          <p:cNvPr id="166" name="Google Shape;166;g3f55aff8e80_2_7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55aff8e80_2_1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f55aff8e80_2_1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Keep the model fixed. Do not make it larger, fine-tune it, or give it a more elaborate persona.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On the left, the harness generates a new request identity for each attempt and treats a timeout as a reason to call again. On the right, the harness preserves the purchase intent’s idempotency key and knows that an ambiguous timeout requires reconciliation before retry.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difference is not hidden inside model weights. It lives in the system around the model: operation identity, recorded state, retrieval, tools, and policy.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is why I resist describing agent memory as a feature that means “the chat remembers things.” The more useful question is: what information can the whole agent system carry across a boundary, and how does that information change the next action?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boundary may be a tool call, a turn, a workflow, a session, or a week later. If the correction is present only in the current prompt, it may help now. If it is represented durably and retrieved under the right conditions, it can change future behavior.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That gives us the cleanest distinction between context and memory.</a:t>
            </a:r>
            <a:endParaRPr/>
          </a:p>
        </p:txBody>
      </p:sp>
      <p:sp>
        <p:nvSpPr>
          <p:cNvPr id="204" name="Google Shape;204;g3f55aff8e80_2_1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55aff8e80_2_1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g3f55aff8e80_2_1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figure from Chapter 1 draws the boundary simply.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Context is the information available to the model for the current inference. It can be rich, accurate, and extremely useful—and still disappear when the window is rebuilt.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Memory is not defined by being old, and it is not defined by sitting in a vector database. Memory is information that the agent system deliberately carries across a boundary so it can affect later 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means memory can be implemented in several places: state, records, summaries, facts, procedures, files, graphs, or another durable substrate. The implementation matters, but it comes after the behavioral question: what should survive, and what future decision is it supposed to support?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In our incident, the stable idempotency rule is useful. But calling it useful does not tell us where it came from, whether it is authoritative, or whether it deserves to become durable guidance.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Before we save evidence, we have to know how it earned a place in the agent’s view of the world.</a:t>
            </a:r>
            <a:endParaRPr/>
          </a:p>
        </p:txBody>
      </p:sp>
      <p:sp>
        <p:nvSpPr>
          <p:cNvPr id="229" name="Google Shape;229;g3f55aff8e80_2_13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55aff8e80_2_15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g3f55aff8e80_2_1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agent does not discover the correction from nowhere.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vendor documentation may define how idempotency works. An incident record may show the duplicate-charge failure. The root-cause analysis may explain the lost response. The current runbook may assign reconciliation responsibility. And an engineer may clarify the exact rule during the interaction.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These sources are not interchangeable. They have different authority, scope, freshness, and relationship to deployed truth. A ticket can document what happened without defining what should happen. A runbook can govern current procedure without proving that every deployment already conforms. A user statement can be immediately useful without being globally authoritative.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 before “memory” is a storage question, it is an evidence-routing question.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Chapter 2 gives that evidence a path into the agent.</a:t>
            </a:r>
            <a:endParaRPr/>
          </a:p>
        </p:txBody>
      </p:sp>
      <p:sp>
        <p:nvSpPr>
          <p:cNvPr id="249" name="Google Shape;249;g3f55aff8e80_2_15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55aff8e80_2_1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g3f55aff8e80_2_1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is the Chapter 2 system design, and it is doing more than ingestion.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First, connectors make a source reachable. Then normalization gives unlike records a common envelope without pretending they are semantically identical. Methodology captures how to interpret the source: what kind of record it is, which authority applies, what time semantics matter, and what claims it can legitimately support. Routing decides where the evidence can be used.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important movement is from raw access to governed use.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Suppose the agent can search the purchasing team’s repository. That tells us the runbook is reachable. It does not tell us that an obsolete version is admissible as current guidance. Suppose the latest runbook is admissible. It still may not be relevant to this endpoint or operation. The layers keep those decisions separate so “search found a document” does not silently become “the agent may act on this claim.”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pipeline is what allows organizational evidence to constrain the agent instead of merely decorating its prompt.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And it sets up the next boundary: Chapter 2 can route an authoritative record into the current task. Chapter 3 asks whether something encountered in that work deserves its own durable representation.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Those gates sound similar, but collapsing them is how weak evidence becomes confident memory.</a:t>
            </a:r>
            <a:endParaRPr/>
          </a:p>
        </p:txBody>
      </p:sp>
      <p:sp>
        <p:nvSpPr>
          <p:cNvPr id="287" name="Google Shape;287;g3f55aff8e80_2_1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55aff8e80_2_2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6" name="Google Shape;306;g3f55aff8e80_2_2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is the same pipeline with the decision points made explicit.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Reachability asks whether the system can access a record. Admissibility asks whether that record is allowed and fit to support this kind of decision. Relevance asks whether the content bears on this operation now.</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Imagine search returns a highly ranked ticket about retrying a flaky CI job. It contains “timeout,” “retry,” and “failure.” It may be perfectly reachable. It may even be admissible as an internal engineering record. It is not relevant evidence for whether a purchase call is safe to repeat.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These distinctions keep provenance attached to claims. They also prevent the memory layer from laundering weak evidence. If a source cannot justify the claim at use time, storing a polished summary of it does not make the claim stronger.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By the time the agent answers the purchasing question, it has vendor semantics, current runbook guidance, and incident evidence in view. Then the engineer adds one sentence that makes the operational correction precise.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That sentence is where the memory-selection problem begins.</a:t>
            </a:r>
            <a:endParaRPr/>
          </a:p>
        </p:txBody>
      </p:sp>
      <p:sp>
        <p:nvSpPr>
          <p:cNvPr id="307" name="Google Shape;307;g3f55aff8e80_2_2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55aff8e80_2_2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f55aff8e80_2_2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engineer tells the agent: “Purchase calls must reuse the purchase intent’s idempotency key. Generating a new key for each attempt defeats the protection.”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is immediately actionable. It explains why the naive fix failed and what a correct retry path must preserve.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But immediate usefulness is not automatic permission to persist.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We still have to ask: Is this person authoritative for the purchasing service? Is the statement local to this endpoint or broadly true? Does it reflect deployed behavior, intended behavior, or both? Is the right durable object a fact, a record of the correction, a procedure, or a link back to the governing runbook? What later evidence would revise or supersede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interaction has produced a candidate. A candidate is not yet a memory. That gap is where memory systems need an explicit decision instead of an automatic “save everything useful” reflex.</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So I want to make that decision uncomfortable for a moment.</a:t>
            </a:r>
            <a:endParaRPr/>
          </a:p>
        </p:txBody>
      </p:sp>
      <p:sp>
        <p:nvSpPr>
          <p:cNvPr id="327" name="Google Shape;327;g3f55aff8e80_2_2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55aff8e80_2_2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g3f55aff8e80_2_2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Quick show of hands: which action would you take with that sentence—use it for this task, propose it as a candidate, or create durable memory now?</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There is no trick answer. Immediate use is the smallest claim: the correction is relevant to this decision. A candidate says the correction may deserve future work, but still needs a retention decision. Creating durable memory is the strongest claim, and it should require corroboration, explicit scope, provenance, and the right authority.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What I do not want is an invisible answer. If the system saves the statement, it should be able to explain who proposed it, what evidence supported it, what future work it is intended to change, and what would reopen the decision.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Every saved memory is a forecast: we are predicting that carrying this representation forward will create more value than confusion, retrieval cost, staleness risk, and maintenance burden.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We cannot see the complete future trace when we make that choice. So we need an explicit decision record, not the fiction of certainty.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And one sentence may imply more than one kind of future work.</a:t>
            </a:r>
            <a:endParaRPr/>
          </a:p>
        </p:txBody>
      </p:sp>
      <p:sp>
        <p:nvSpPr>
          <p:cNvPr id="343" name="Google Shape;343;g3f55aff8e80_2_24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55aff8e80_2_2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g3f55aff8e80_2_26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interaction can produce three different candidates.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semantic candidate carries the durable claim: purchase attempts for one intent reuse the same idempotency key.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An episodic candidate preserves what happened: during this incident, an engineer corrected the agent’s assumption. That can matter for provenance, review, or learning from a failure.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procedural candidate carries the action sequence: after an ambiguous timeout, reconcile authoritative purchase state before another billable attempt.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These are not three copies of the same sentence. They have different future-use contracts. The semantic memory supports explanation and reasoning. The episode supports provenance and incident learning. The procedure supports execution.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And we may not retain all three independently. If the episode adds no continuing value beyond its sourced correction, it may remain as provenance rather than a frequently retrieved memory. If the procedure is already governed by the runbook, the right action may be to link or update rather than create a competing instruction.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source tells us where information came from. The memory type tells us what future work the retained representation must perform.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To make that operational, the write path needs three explicit objects.</a:t>
            </a:r>
            <a:endParaRPr/>
          </a:p>
        </p:txBody>
      </p:sp>
      <p:sp>
        <p:nvSpPr>
          <p:cNvPr id="360" name="Google Shape;360;g3f55aff8e80_2_26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55aff8e80_2_2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g3f55aff8e80_2_2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first object is the MemoryCandidate. It preserves the proposed content, provenance, scope, and the future job we think it might support.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second is the RetentionDecision. This is where the system records the action—retain, reject, link, defer, or another bounded choice—and why. It should not disappear after a boolean write gate.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third is the ManagedMemory: the durable representation plus the information needed to govern it later. That includes its sources, validity and scope, intended use, current status, and the events that should reopen the decision.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Different systems can allocate proposal, decision, and materialization differently. An agent may edit memory directly. An extractor may propose additive facts. An episode-first system may derive durable claims later. Those are composable write-path patterns, not mutually exclusive product categories.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durable point is simpler: someone or something proposes; an explicit policy decides; a bounded write path materializes; later evidence has a declared way to change the result.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is where the talk’s “managed commitment” shorthand becomes useful. Saving a memory is a commitment to carry a claim or procedure forward—but a well-designed system also commits to revisiting 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Selection is not the end of memory management. It starts the lifecycle.</a:t>
            </a:r>
            <a:endParaRPr/>
          </a:p>
        </p:txBody>
      </p:sp>
      <p:sp>
        <p:nvSpPr>
          <p:cNvPr id="380" name="Google Shape;380;g3f55aff8e80_2_2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f55aff8e80_2_3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g3f55aff8e80_2_3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This loop is the core of Chapter 3.</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system encounters information, identifies a candidate, chooses whether and how to materialize it, and then keeps making decisions as evidence changes. It may reconsider the memory, compress or maintain a derived representation, adapt the policy, evaluate the effect, and feed governed evidence into the next selection decision.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Three relationships create pressure on the loop.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Memory to world: deployed behavior or organizational reality changes, so a memory may become stale or false.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Memory to store: corroborating, duplicative, or contradictory evidence changes whether this memory should remain independent.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Memory to future work: usefulness changes relative to retrieval, reasoning, storage, and maintenance cost.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three-part grouping is a synthesis for the chapter, not an external named taxonomy. It helps us ask a better question than “How important is this memory?” We can ask what relationship changed, which action is justified, and which evidence must survive.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loop also makes evaluation causal. Evaluation is not a report card at the end. It creates governed evidence that may change future selection—but only through the same decision and activation discipline.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Now let’s put new evidence into the loop and watch three memories diverge.</a:t>
            </a:r>
            <a:endParaRPr/>
          </a:p>
        </p:txBody>
      </p:sp>
      <p:sp>
        <p:nvSpPr>
          <p:cNvPr id="417" name="Google Shape;417;g3f55aff8e80_2_3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f55aff8e80_2_3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1" name="Google Shape;431;g3f55aff8e80_2_3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1:15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Later, VIC’s governing purchase-service runbook changes.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same event should not produce the same operation on every memory.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stable-key fact gains authoritative corroboration. The system can consolidate or link it with the governing source.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engineer-correction episode remains historically true, but its independent retrieval value declines once the corrected rule is captured elsewhere. The system can demote it while preserving provenance.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old procedure is different. If it assigns reconciliation to the wrong component, retrieving it as current guidance could cause harm. That procedure should be superseded or invalidated, with a replacement link and a clear boundary on current use.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In the companion replay, this one runbook event deliberately produces CONSOLIDATE, DEMOTE, and SUPERSEDE. That is not a claim that these are the only available actions. It is a concrete demonstration that lifecycle policy should act on the memory’s role and current evidence, not apply one generic decay rule.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But how did the system know it was time to reconsider these memories?</a:t>
            </a:r>
            <a:endParaRPr/>
          </a:p>
        </p:txBody>
      </p:sp>
      <p:sp>
        <p:nvSpPr>
          <p:cNvPr id="432" name="Google Shape;432;g3f55aff8e80_2_3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f55aff8e80_2_3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g3f55aff8e80_2_3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TTL answers a storage question: how long should this object live before an expiration behavior fires?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retention horizon answers a lifecycle question: what condition should reopen the decision?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condition may be time, but it may also be a new version of a governing runbook, a contradiction from a higher-authority source, repeated evidence that a memory is redundant, or evidence that its future value no longer justifies its cost.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distinction matters because elapsed time cannot tell us what changed. A memory can be old and still essential. A memory can be new and already wrong. A historically true episode may remain valid while becoming less useful to retrieve. A procedure may need immediate invalidation even if it was used successfully yesterday.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 the horizon is not an automatic deletion date. It is a trigger that brings the memory, current evidence, and available lifecycle actions back to the policy.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When we preserve that decision boundary, we can explain why the semantic fact was consolidated, the episode demoted, and the procedure superseded instead of saying that all three “expired.”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Once the decision is open, we still need a way to choose among actions.</a:t>
            </a:r>
            <a:endParaRPr/>
          </a:p>
        </p:txBody>
      </p:sp>
      <p:sp>
        <p:nvSpPr>
          <p:cNvPr id="459" name="Google Shape;459;g3f55aff8e80_2_3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55aff8e80_2_38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g3f55aff8e80_2_38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Many systems assign a memory one importance score and let that number follow it forever. The problem is that a single scalar collapses different questions.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 false memory, a redundant memory, a historically true episode with declining retrieval value, and a rarely used but high-consequence procedure can all land on similar numbers for completely different reasons.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chapter’s conceptual frame is utility(action | memory, current evidence). This is a synthesis, not a required production formula. The point is to evaluate the treatment under consideration: retain, demote, consolidate, suppress, supersede, delete, or something else the system explicitly supports.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Start with constraints. Governing authority, present validity, explicit invalidation, and binding retention or deletion obligations may rule actions in or out. Then consider softer proxies: recency, repetition, novelty, usage, likely task utility, consequence, reacquisition cost, and lifecycle cost.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Do not let the proxies impersonate constraints. Authority is not reliability. Recency is not truth. Frequency is not continuing value. Novelty is not automatically beneficial.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And preserve the reason. A future reviewer should be able to distinguish “demoted because duplicated by the current runbook” from “suppressed because out of scope” and “deleted because the payload may no longer be retained.”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That leads to a more precise vocabulary for forgetting.</a:t>
            </a:r>
            <a:endParaRPr/>
          </a:p>
        </p:txBody>
      </p:sp>
      <p:sp>
        <p:nvSpPr>
          <p:cNvPr id="484" name="Google Shape;484;g3f55aff8e80_2_38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55aff8e80_2_4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g3f55aff8e80_2_4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When people say a memory system should forget, they often mean several different operations.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Demotion removes priority. Suppression removes visibility in a declared scope. Consolidation removes the need for an independent representation because another object carries the job. Invalidation removes current applicability. Supersession attaches a replacement. Deletion removes the payload itself.</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These are not mandatory steps on a ladder. A dangerous procedure does not need to decay politely through five stages before becoming invalid. And a low-priority episode does not need to be destroyed if its provenance remains useful and permissible to keep.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practical rule is: remove the smallest property the decision requires while preserving the evidence needed to explain or reverse the action—when policy allows that evidence to remain.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Hard deletion is its own scoped operation. If the same information exists in raw files, facts, graph relationships, vector representations, summaries, and caches, deleting one object is not proof that the system deleted the data. The propagation boundary has to be declared and verified.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The most common loss of independence is compression, and that creates a different risk.</a:t>
            </a:r>
            <a:endParaRPr/>
          </a:p>
        </p:txBody>
      </p:sp>
      <p:sp>
        <p:nvSpPr>
          <p:cNvPr id="510" name="Google Shape;510;g3f55aff8e80_2_40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f55aff8e80_2_4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g3f55aff8e80_2_4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VIC now has ten near-duplicate purchase-timeout records. Keeping every detail in the active working set is costly, so we want a derived memory.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unsafe version produces a smooth generalization and drops the EU-endpoint exception. It is concise, readable, and wrong for one important slice. In the replay, that first rollup fails validation.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safer version starts with a future-use contract. For this operational job, it must preserve the stable idempotency key, the distinction between an ambiguous timeout and a confirmed failure, service-owned reconciliation, the unresolved EU-endpoint exception, and claim-to-source lineage. Details outside that contract may be discarded or left in linked evidence.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When dependency evidence changes, the system creates a candidate replacement rather than silently mutating the active derived memory. The replay moves from an active version, through a validating candidate, to a controlled cutover in which the new version becomes current and the prior version becomes historical.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Compression quality is therefore not “How much shorter is it?” or even “How similar is it to the transcript?” The question is whether the representation preserves the decisions its declared future job requires.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We have managed the memory. Now we have to prove that any of this improved the agent’s work.</a:t>
            </a:r>
            <a:endParaRPr/>
          </a:p>
        </p:txBody>
      </p:sp>
      <p:sp>
        <p:nvSpPr>
          <p:cNvPr id="549" name="Google Shape;549;g3f55aff8e80_2_44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f55aff8e80_2_4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g3f55aff8e80_2_4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2:00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An end-to-end success does not tell us that memory deserves credit.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We need to localize the path. Was the needed memory retained? Was it found? Did it survive ranking? Was it loaded? Did the action path actually use it? And compared with a credible alternative, did that use improve the 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first stages establish availability. “Used” needs an instrumented control path or a proportionate intervention, not just evidence that the text appeared in context. “Improved” needs a named comparison.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are the actual results from the companion example’s deterministic five-case offline replay. I want to label them very precisely: these are illustrative test results for the build-along. They are not a benchmark, production telemetry, or a claim that these numbers generalize.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task-only arm passes two of five cases. The incumbent memory passes four. The candidate memory passes all five. Direct-source lookup also passes all five, but at a recorded cost of 5.0 cost units. The candidate adds 0.2 cost units relative to the incumbent.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Those comparisons answer different questions. Task-only tells us whether prior information mattered. Incumbent versus candidate isolates the proposed memory change in an established system. Direct-source lookup asks whether the managed layer earns its cost relative to consulting the complete relevant evidence.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candidate passes the declared hard constraints. It still does not activate itself. The evaluation record remains governed evidence, and activation awaits the purchasing owner. A score can support a decision; it should not silently become permission to rewrite production policy.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Transition: With that evidence in hand, we can replay the opening timeout.</a:t>
            </a:r>
            <a:endParaRPr/>
          </a:p>
        </p:txBody>
      </p:sp>
      <p:sp>
        <p:nvSpPr>
          <p:cNvPr id="573" name="Google Shape;573;g3f55aff8e80_2_4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f55aff8e80_2_4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g3f55aff8e80_2_48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By the end, engineers should be able to trace one piece of information from an ambiguous operation, through trustworthy organizational evidence and an explicit retention decision, to a governed memory whose effect on later action can be measured.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Planned time: 1:45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Return to the opening incident.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next purchase attempt times out. This time, the harness carries the same purchase intent and the same idempotency key across the boundary. The agent does not infer failure from silence. It reconciles authoritative purchase state before deciding whether another attempt is safe.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The outcome is one intended charge—not because the model suddenly became wiser, but because the system carried the right evidence into the decision under an explicit policy.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That is the full movement of the talk.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Chapter 1 gives us the behavioral test: memory is information carried across a boundary that changes later work.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Chapter 2 gives evidence a governed path from source to use.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Chapter 3 asks which encountered information deserves durable representation, how later evidence changes it, what compression must preserve, and how we prove that remembering helped.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So if you take three questions back to your own agent system, make them these: What evidence are we carrying forward? Who or what is allowed to change it? And what comparison would show that it improved the next action?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Memory is not simply context that survived. It is evidence carried forward under a policy, revised when the world changes, and credited only when it makes the work better.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 sz="1200"/>
              <a:t>Landing: The next timeout is the proof. The agent reuses the stable key, reconciles before retry, and avoids the duplicate because the right evidence survived in a governable form.</a:t>
            </a:r>
            <a:endParaRPr/>
          </a:p>
        </p:txBody>
      </p:sp>
      <p:sp>
        <p:nvSpPr>
          <p:cNvPr id="591" name="Google Shape;591;g3f55aff8e80_2_48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f55aff8e80_2_5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g3f55aff8e80_2_5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Appendix. Source: Chapter 1, Figure 1-2, the pyramid of agent-memory traits. Continuity is the foundation; it makes adaptation possible, and accumulated adaptation enables compounding.</a:t>
            </a:r>
            <a:endParaRPr/>
          </a:p>
        </p:txBody>
      </p:sp>
      <p:sp>
        <p:nvSpPr>
          <p:cNvPr id="629" name="Google Shape;629;g3f55aff8e80_2_5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f55aff8e80_2_5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g3f55aff8e80_2_5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Appendix. Source: Chapter 2, Figure 2-3, the cost-of-meaning gradient. Richer fields can be more useful and more expensive to derive. Generated or inferred meaning does not become authoritative merely because it is fluent.</a:t>
            </a:r>
            <a:endParaRPr/>
          </a:p>
        </p:txBody>
      </p:sp>
      <p:sp>
        <p:nvSpPr>
          <p:cNvPr id="644" name="Google Shape;644;g3f55aff8e80_2_5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f55aff8e80_2_5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g3f55aff8e80_2_5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Appendix. Source: Chapter 2 normalization model. RawRecord preserves source shape; MemoryRecord makes records semantically comparable; RoutedEvidence is task-scoped and authority-aware.</a:t>
            </a:r>
            <a:endParaRPr/>
          </a:p>
        </p:txBody>
      </p:sp>
      <p:sp>
        <p:nvSpPr>
          <p:cNvPr id="664" name="Google Shape;664;g3f55aff8e80_2_55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f55aff8e80_2_59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g3f55aff8e80_2_59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Appendix. Source: Chapter 3 companion replay. Policy 7 does not open review with two supports. Policy 8b opens review, but only purchasing-owner approval creates memory. Evaluation evidence remains proposal evidence and cannot self-activate.</a:t>
            </a:r>
            <a:endParaRPr/>
          </a:p>
        </p:txBody>
      </p:sp>
      <p:sp>
        <p:nvSpPr>
          <p:cNvPr id="700" name="Google Shape;700;g3f55aff8e80_2_59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3f55aff8e80_2_6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8" name="Google Shape;738;g3f55aff8e80_2_6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Post-talk Q&amp;A. Invite questions and use the appendix as needed. Keep the prompt visible: what should an agent remember, and who will own the answer?</a:t>
            </a:r>
            <a:endParaRPr/>
          </a:p>
        </p:txBody>
      </p:sp>
      <p:sp>
        <p:nvSpPr>
          <p:cNvPr id="739" name="Google Shape;739;g3f55aff8e80_2_6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f55aff8e80_2_6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g3f55aff8e80_2_6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t>Post-talk close. Thank the audience and leave the three-part summary visible: route the evidence, govern the lifecycle, and measure the action.</a:t>
            </a:r>
            <a:endParaRPr/>
          </a:p>
        </p:txBody>
      </p:sp>
      <p:sp>
        <p:nvSpPr>
          <p:cNvPr id="756" name="Google Shape;756;g3f55aff8e80_2_6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56" name="Shape 56"/>
        <p:cNvGrpSpPr/>
        <p:nvPr/>
      </p:nvGrpSpPr>
      <p:grpSpPr>
        <a:xfrm>
          <a:off x="0" y="0"/>
          <a:ext cx="0" cy="0"/>
          <a:chOff x="0" y="0"/>
          <a:chExt cx="0" cy="0"/>
        </a:xfrm>
      </p:grpSpPr>
      <p:sp>
        <p:nvSpPr>
          <p:cNvPr id="57" name="Google Shape;57;p15"/>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BEN LABASCHIN</a:t>
            </a:r>
            <a:endParaRPr sz="1100"/>
          </a:p>
        </p:txBody>
      </p:sp>
      <p:pic>
        <p:nvPicPr>
          <p:cNvPr id="58" name="Google Shape;58;p15"/>
          <p:cNvPicPr preferRelativeResize="0"/>
          <p:nvPr/>
        </p:nvPicPr>
        <p:blipFill rotWithShape="1">
          <a:blip r:embed="rId3">
            <a:alphaModFix/>
          </a:blip>
          <a:srcRect b="0" l="0" r="0" t="0"/>
          <a:stretch/>
        </p:blipFill>
        <p:spPr>
          <a:xfrm>
            <a:off x="4643438" y="57150"/>
            <a:ext cx="3986213" cy="2357438"/>
          </a:xfrm>
          <a:prstGeom prst="rect">
            <a:avLst/>
          </a:prstGeom>
          <a:noFill/>
          <a:ln>
            <a:noFill/>
          </a:ln>
        </p:spPr>
      </p:pic>
      <p:sp>
        <p:nvSpPr>
          <p:cNvPr id="59" name="Google Shape;59;p15"/>
          <p:cNvSpPr/>
          <p:nvPr/>
        </p:nvSpPr>
        <p:spPr>
          <a:xfrm>
            <a:off x="514350" y="1114425"/>
            <a:ext cx="4929188"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3500"/>
              <a:buFont typeface="Georgia"/>
              <a:buNone/>
            </a:pPr>
            <a:r>
              <a:rPr b="1" i="0" lang="en" sz="3500">
                <a:solidFill>
                  <a:srgbClr val="25251F"/>
                </a:solidFill>
                <a:latin typeface="Georgia"/>
                <a:ea typeface="Georgia"/>
                <a:cs typeface="Georgia"/>
                <a:sym typeface="Georgia"/>
              </a:rPr>
              <a:t>Agent Memory</a:t>
            </a:r>
            <a:endParaRPr sz="1100"/>
          </a:p>
        </p:txBody>
      </p:sp>
      <p:sp>
        <p:nvSpPr>
          <p:cNvPr id="60" name="Google Shape;60;p15"/>
          <p:cNvSpPr/>
          <p:nvPr/>
        </p:nvSpPr>
        <p:spPr>
          <a:xfrm>
            <a:off x="514350" y="1957388"/>
            <a:ext cx="928688"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 name="Google Shape;61;p15"/>
          <p:cNvSpPr/>
          <p:nvPr/>
        </p:nvSpPr>
        <p:spPr>
          <a:xfrm>
            <a:off x="1514475" y="1957388"/>
            <a:ext cx="542925"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5"/>
          <p:cNvSpPr/>
          <p:nvPr/>
        </p:nvSpPr>
        <p:spPr>
          <a:xfrm>
            <a:off x="2128838" y="1957388"/>
            <a:ext cx="271463"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5"/>
          <p:cNvSpPr/>
          <p:nvPr/>
        </p:nvSpPr>
        <p:spPr>
          <a:xfrm>
            <a:off x="2471738" y="1957388"/>
            <a:ext cx="85725" cy="50006"/>
          </a:xfrm>
          <a:prstGeom prst="roundRect">
            <a:avLst>
              <a:gd fmla="val 50000" name="adj"/>
            </a:avLst>
          </a:prstGeom>
          <a:solidFill>
            <a:srgbClr val="E11FC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 name="Google Shape;64;p15"/>
          <p:cNvSpPr/>
          <p:nvPr/>
        </p:nvSpPr>
        <p:spPr>
          <a:xfrm>
            <a:off x="514350" y="2243138"/>
            <a:ext cx="4429125" cy="542925"/>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1200"/>
              <a:buFont typeface="Arial"/>
              <a:buNone/>
            </a:pPr>
            <a:r>
              <a:rPr b="0" i="0" lang="en" sz="1200">
                <a:solidFill>
                  <a:srgbClr val="5C5B55"/>
                </a:solidFill>
                <a:latin typeface="Arial"/>
                <a:ea typeface="Arial"/>
                <a:cs typeface="Arial"/>
                <a:sym typeface="Arial"/>
              </a:rPr>
              <a:t>From a timeout to a managed commitment.</a:t>
            </a:r>
            <a:endParaRPr sz="1100"/>
          </a:p>
          <a:p>
            <a:pPr indent="0" lvl="0" marL="0" marR="0" rtl="0" algn="l">
              <a:lnSpc>
                <a:spcPct val="112000"/>
              </a:lnSpc>
              <a:spcBef>
                <a:spcPts val="0"/>
              </a:spcBef>
              <a:spcAft>
                <a:spcPts val="0"/>
              </a:spcAft>
              <a:buClr>
                <a:srgbClr val="5C5B55"/>
              </a:buClr>
              <a:buSzPts val="1200"/>
              <a:buFont typeface="Arial"/>
              <a:buNone/>
            </a:pPr>
            <a:r>
              <a:rPr b="0" i="0" lang="en" sz="1200">
                <a:solidFill>
                  <a:srgbClr val="5C5B55"/>
                </a:solidFill>
                <a:latin typeface="Arial"/>
                <a:ea typeface="Arial"/>
                <a:cs typeface="Arial"/>
                <a:sym typeface="Arial"/>
              </a:rPr>
              <a:t>How evidence becomes durable, revisable guidance.</a:t>
            </a:r>
            <a:endParaRPr sz="1100"/>
          </a:p>
        </p:txBody>
      </p:sp>
      <p:sp>
        <p:nvSpPr>
          <p:cNvPr id="65" name="Google Shape;65;p15"/>
          <p:cNvSpPr/>
          <p:nvPr/>
        </p:nvSpPr>
        <p:spPr>
          <a:xfrm>
            <a:off x="514350" y="3100388"/>
            <a:ext cx="1857375"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THE STORY IN THREE MOVES</a:t>
            </a:r>
            <a:endParaRPr sz="1100"/>
          </a:p>
        </p:txBody>
      </p:sp>
      <p:sp>
        <p:nvSpPr>
          <p:cNvPr id="66" name="Google Shape;66;p15"/>
          <p:cNvSpPr/>
          <p:nvPr/>
        </p:nvSpPr>
        <p:spPr>
          <a:xfrm>
            <a:off x="514350" y="3414713"/>
            <a:ext cx="385763"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500"/>
              <a:buFont typeface="Georgia"/>
              <a:buNone/>
            </a:pPr>
            <a:r>
              <a:rPr b="1" i="0" lang="en" sz="1500">
                <a:solidFill>
                  <a:srgbClr val="F1872D"/>
                </a:solidFill>
                <a:latin typeface="Georgia"/>
                <a:ea typeface="Georgia"/>
                <a:cs typeface="Georgia"/>
                <a:sym typeface="Georgia"/>
              </a:rPr>
              <a:t>01</a:t>
            </a:r>
            <a:endParaRPr sz="1100"/>
          </a:p>
        </p:txBody>
      </p:sp>
      <p:sp>
        <p:nvSpPr>
          <p:cNvPr id="67" name="Google Shape;67;p15"/>
          <p:cNvSpPr/>
          <p:nvPr/>
        </p:nvSpPr>
        <p:spPr>
          <a:xfrm>
            <a:off x="885825" y="3429000"/>
            <a:ext cx="871538"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700"/>
              <a:buFont typeface="Arial"/>
              <a:buNone/>
            </a:pPr>
            <a:r>
              <a:rPr b="1" i="0" lang="en" sz="700">
                <a:solidFill>
                  <a:srgbClr val="25251F"/>
                </a:solidFill>
                <a:latin typeface="Arial"/>
                <a:ea typeface="Arial"/>
                <a:cs typeface="Arial"/>
                <a:sym typeface="Arial"/>
              </a:rPr>
              <a:t>FAIL</a:t>
            </a:r>
            <a:endParaRPr sz="1100"/>
          </a:p>
        </p:txBody>
      </p:sp>
      <p:sp>
        <p:nvSpPr>
          <p:cNvPr id="68" name="Google Shape;68;p15"/>
          <p:cNvSpPr/>
          <p:nvPr/>
        </p:nvSpPr>
        <p:spPr>
          <a:xfrm>
            <a:off x="885825" y="3614738"/>
            <a:ext cx="130016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800"/>
              <a:buFont typeface="Arial"/>
              <a:buNone/>
            </a:pPr>
            <a:r>
              <a:rPr b="0" i="0" lang="en" sz="800">
                <a:solidFill>
                  <a:srgbClr val="918B82"/>
                </a:solidFill>
                <a:latin typeface="Arial"/>
                <a:ea typeface="Arial"/>
                <a:cs typeface="Arial"/>
                <a:sym typeface="Arial"/>
              </a:rPr>
              <a:t>ambiguous timeout</a:t>
            </a:r>
            <a:endParaRPr sz="1100"/>
          </a:p>
        </p:txBody>
      </p:sp>
      <p:sp>
        <p:nvSpPr>
          <p:cNvPr id="69" name="Google Shape;69;p15"/>
          <p:cNvSpPr/>
          <p:nvPr/>
        </p:nvSpPr>
        <p:spPr>
          <a:xfrm>
            <a:off x="2728913" y="3414713"/>
            <a:ext cx="385763"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500"/>
              <a:buFont typeface="Georgia"/>
              <a:buNone/>
            </a:pPr>
            <a:r>
              <a:rPr b="1" i="0" lang="en" sz="1500">
                <a:solidFill>
                  <a:srgbClr val="4EB9A5"/>
                </a:solidFill>
                <a:latin typeface="Georgia"/>
                <a:ea typeface="Georgia"/>
                <a:cs typeface="Georgia"/>
                <a:sym typeface="Georgia"/>
              </a:rPr>
              <a:t>02</a:t>
            </a:r>
            <a:endParaRPr sz="1100"/>
          </a:p>
        </p:txBody>
      </p:sp>
      <p:sp>
        <p:nvSpPr>
          <p:cNvPr id="70" name="Google Shape;70;p15"/>
          <p:cNvSpPr/>
          <p:nvPr/>
        </p:nvSpPr>
        <p:spPr>
          <a:xfrm>
            <a:off x="3100388" y="3429000"/>
            <a:ext cx="9429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700"/>
              <a:buFont typeface="Arial"/>
              <a:buNone/>
            </a:pPr>
            <a:r>
              <a:rPr b="1" i="0" lang="en" sz="700">
                <a:solidFill>
                  <a:srgbClr val="25251F"/>
                </a:solidFill>
                <a:latin typeface="Arial"/>
                <a:ea typeface="Arial"/>
                <a:cs typeface="Arial"/>
                <a:sym typeface="Arial"/>
              </a:rPr>
              <a:t>ROUTE</a:t>
            </a:r>
            <a:endParaRPr sz="1100"/>
          </a:p>
        </p:txBody>
      </p:sp>
      <p:sp>
        <p:nvSpPr>
          <p:cNvPr id="71" name="Google Shape;71;p15"/>
          <p:cNvSpPr/>
          <p:nvPr/>
        </p:nvSpPr>
        <p:spPr>
          <a:xfrm>
            <a:off x="3100388" y="3614738"/>
            <a:ext cx="131445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800"/>
              <a:buFont typeface="Arial"/>
              <a:buNone/>
            </a:pPr>
            <a:r>
              <a:rPr b="0" i="0" lang="en" sz="800">
                <a:solidFill>
                  <a:srgbClr val="918B82"/>
                </a:solidFill>
                <a:latin typeface="Arial"/>
                <a:ea typeface="Arial"/>
                <a:cs typeface="Arial"/>
                <a:sym typeface="Arial"/>
              </a:rPr>
              <a:t>trusted evidence</a:t>
            </a:r>
            <a:endParaRPr sz="1100"/>
          </a:p>
        </p:txBody>
      </p:sp>
      <p:sp>
        <p:nvSpPr>
          <p:cNvPr id="72" name="Google Shape;72;p15"/>
          <p:cNvSpPr/>
          <p:nvPr/>
        </p:nvSpPr>
        <p:spPr>
          <a:xfrm>
            <a:off x="4943475" y="3414713"/>
            <a:ext cx="385763"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1500"/>
              <a:buFont typeface="Georgia"/>
              <a:buNone/>
            </a:pPr>
            <a:r>
              <a:rPr b="1" i="0" lang="en" sz="1500">
                <a:solidFill>
                  <a:srgbClr val="4F78ED"/>
                </a:solidFill>
                <a:latin typeface="Georgia"/>
                <a:ea typeface="Georgia"/>
                <a:cs typeface="Georgia"/>
                <a:sym typeface="Georgia"/>
              </a:rPr>
              <a:t>03</a:t>
            </a:r>
            <a:endParaRPr sz="1100"/>
          </a:p>
        </p:txBody>
      </p:sp>
      <p:sp>
        <p:nvSpPr>
          <p:cNvPr id="73" name="Google Shape;73;p15"/>
          <p:cNvSpPr/>
          <p:nvPr/>
        </p:nvSpPr>
        <p:spPr>
          <a:xfrm>
            <a:off x="5314950" y="3429000"/>
            <a:ext cx="9429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700"/>
              <a:buFont typeface="Arial"/>
              <a:buNone/>
            </a:pPr>
            <a:r>
              <a:rPr b="1" i="0" lang="en" sz="700">
                <a:solidFill>
                  <a:srgbClr val="25251F"/>
                </a:solidFill>
                <a:latin typeface="Arial"/>
                <a:ea typeface="Arial"/>
                <a:cs typeface="Arial"/>
                <a:sym typeface="Arial"/>
              </a:rPr>
              <a:t>GOVERN</a:t>
            </a:r>
            <a:endParaRPr sz="1100"/>
          </a:p>
        </p:txBody>
      </p:sp>
      <p:sp>
        <p:nvSpPr>
          <p:cNvPr id="74" name="Google Shape;74;p15"/>
          <p:cNvSpPr/>
          <p:nvPr/>
        </p:nvSpPr>
        <p:spPr>
          <a:xfrm>
            <a:off x="5314950" y="3614738"/>
            <a:ext cx="1314450"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800"/>
              <a:buFont typeface="Arial"/>
              <a:buNone/>
            </a:pPr>
            <a:r>
              <a:rPr b="0" i="0" lang="en" sz="800">
                <a:solidFill>
                  <a:srgbClr val="918B82"/>
                </a:solidFill>
                <a:latin typeface="Arial"/>
                <a:ea typeface="Arial"/>
                <a:cs typeface="Arial"/>
                <a:sym typeface="Arial"/>
              </a:rPr>
              <a:t>managed commitment</a:t>
            </a:r>
            <a:endParaRPr sz="1100"/>
          </a:p>
        </p:txBody>
      </p:sp>
      <p:sp>
        <p:nvSpPr>
          <p:cNvPr id="75" name="Google Shape;75;p15"/>
          <p:cNvSpPr/>
          <p:nvPr/>
        </p:nvSpPr>
        <p:spPr>
          <a:xfrm>
            <a:off x="514350" y="3914775"/>
            <a:ext cx="6072188" cy="14288"/>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5"/>
          <p:cNvSpPr/>
          <p:nvPr/>
        </p:nvSpPr>
        <p:spPr>
          <a:xfrm>
            <a:off x="514350" y="3914775"/>
            <a:ext cx="2043113"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5"/>
          <p:cNvSpPr/>
          <p:nvPr/>
        </p:nvSpPr>
        <p:spPr>
          <a:xfrm>
            <a:off x="2728913" y="3914775"/>
            <a:ext cx="2043113"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5"/>
          <p:cNvSpPr/>
          <p:nvPr/>
        </p:nvSpPr>
        <p:spPr>
          <a:xfrm>
            <a:off x="4943475" y="3914775"/>
            <a:ext cx="1643063"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5"/>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5"/>
          <p:cNvSpPr/>
          <p:nvPr/>
        </p:nvSpPr>
        <p:spPr>
          <a:xfrm>
            <a:off x="514350" y="4686300"/>
            <a:ext cx="4643438"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lang="en" sz="600">
                <a:solidFill>
                  <a:srgbClr val="918B82"/>
                </a:solidFill>
              </a:rPr>
              <a:t>Head of AI and Engineer @ Workhelix</a:t>
            </a:r>
            <a:r>
              <a:rPr b="1" i="0" lang="en" sz="600">
                <a:solidFill>
                  <a:srgbClr val="918B82"/>
                </a:solidFill>
                <a:latin typeface="Arial"/>
                <a:ea typeface="Arial"/>
                <a:cs typeface="Arial"/>
                <a:sym typeface="Arial"/>
              </a:rPr>
              <a:t>   ·   O’Reilly Author   ·   econoben.dev</a:t>
            </a:r>
            <a:endParaRPr sz="1100"/>
          </a:p>
        </p:txBody>
      </p:sp>
      <p:pic>
        <p:nvPicPr>
          <p:cNvPr id="81" name="Google Shape;81;p15"/>
          <p:cNvPicPr preferRelativeResize="0"/>
          <p:nvPr/>
        </p:nvPicPr>
        <p:blipFill rotWithShape="1">
          <a:blip r:embed="rId4">
            <a:alphaModFix/>
          </a:blip>
          <a:srcRect b="0" l="0" r="0" t="0"/>
          <a:stretch/>
        </p:blipFill>
        <p:spPr>
          <a:xfrm>
            <a:off x="7985408" y="3714750"/>
            <a:ext cx="474098" cy="828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86" name="Shape 86"/>
        <p:cNvGrpSpPr/>
        <p:nvPr/>
      </p:nvGrpSpPr>
      <p:grpSpPr>
        <a:xfrm>
          <a:off x="0" y="0"/>
          <a:ext cx="0" cy="0"/>
          <a:chOff x="0" y="0"/>
          <a:chExt cx="0" cy="0"/>
        </a:xfrm>
      </p:grpSpPr>
      <p:sp>
        <p:nvSpPr>
          <p:cNvPr id="87" name="Google Shape;87;p16"/>
          <p:cNvSpPr/>
          <p:nvPr/>
        </p:nvSpPr>
        <p:spPr>
          <a:xfrm>
            <a:off x="514350" y="385763"/>
            <a:ext cx="3071700" cy="1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ABOUT ME</a:t>
            </a:r>
            <a:endParaRPr sz="1100"/>
          </a:p>
        </p:txBody>
      </p:sp>
      <p:sp>
        <p:nvSpPr>
          <p:cNvPr id="88" name="Google Shape;88;p16"/>
          <p:cNvSpPr/>
          <p:nvPr/>
        </p:nvSpPr>
        <p:spPr>
          <a:xfrm>
            <a:off x="514350" y="757238"/>
            <a:ext cx="8115300" cy="4143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I’m Ben Labaschin.</a:t>
            </a:r>
            <a:endParaRPr sz="1100"/>
          </a:p>
        </p:txBody>
      </p:sp>
      <p:sp>
        <p:nvSpPr>
          <p:cNvPr id="89" name="Google Shape;89;p16"/>
          <p:cNvSpPr/>
          <p:nvPr/>
        </p:nvSpPr>
        <p:spPr>
          <a:xfrm>
            <a:off x="514350" y="1314450"/>
            <a:ext cx="843000" cy="5010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6"/>
          <p:cNvSpPr/>
          <p:nvPr/>
        </p:nvSpPr>
        <p:spPr>
          <a:xfrm>
            <a:off x="1428750" y="1314450"/>
            <a:ext cx="500100" cy="5010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6"/>
          <p:cNvSpPr/>
          <p:nvPr/>
        </p:nvSpPr>
        <p:spPr>
          <a:xfrm>
            <a:off x="2000250" y="1314450"/>
            <a:ext cx="200100" cy="50100"/>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6"/>
          <p:cNvSpPr/>
          <p:nvPr/>
        </p:nvSpPr>
        <p:spPr>
          <a:xfrm>
            <a:off x="514350" y="1800225"/>
            <a:ext cx="2143200" cy="1700100"/>
          </a:xfrm>
          <a:prstGeom prst="roundRect">
            <a:avLst>
              <a:gd fmla="val 3361" name="adj"/>
            </a:avLst>
          </a:prstGeom>
          <a:solidFill>
            <a:srgbClr val="FFFDF9"/>
          </a:solidFill>
          <a:ln cap="flat" cmpd="sng" w="9525">
            <a:solidFill>
              <a:srgbClr val="E9E0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3" name="Google Shape;93;p16"/>
          <p:cNvSpPr/>
          <p:nvPr/>
        </p:nvSpPr>
        <p:spPr>
          <a:xfrm>
            <a:off x="514350" y="1800225"/>
            <a:ext cx="50100" cy="170010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6"/>
          <p:cNvSpPr/>
          <p:nvPr/>
        </p:nvSpPr>
        <p:spPr>
          <a:xfrm>
            <a:off x="685800" y="1928813"/>
            <a:ext cx="1843200" cy="2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ENGINEER</a:t>
            </a:r>
            <a:endParaRPr sz="1100"/>
          </a:p>
        </p:txBody>
      </p:sp>
      <p:sp>
        <p:nvSpPr>
          <p:cNvPr id="95" name="Google Shape;95;p16"/>
          <p:cNvSpPr/>
          <p:nvPr/>
        </p:nvSpPr>
        <p:spPr>
          <a:xfrm>
            <a:off x="685800" y="2171700"/>
            <a:ext cx="1843200" cy="125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lang="en" sz="800">
                <a:solidFill>
                  <a:srgbClr val="5C5B55"/>
                </a:solidFill>
              </a:rPr>
              <a:t>Head of AI and Engineering @ Workhelix.</a:t>
            </a:r>
            <a:endParaRPr sz="1100"/>
          </a:p>
          <a:p>
            <a:pPr indent="0" lvl="0" marL="0" marR="0" rtl="0" algn="l">
              <a:lnSpc>
                <a:spcPct val="110000"/>
              </a:lnSpc>
              <a:spcBef>
                <a:spcPts val="0"/>
              </a:spcBef>
              <a:spcAft>
                <a:spcPts val="0"/>
              </a:spcAft>
              <a:buClr>
                <a:srgbClr val="5C5B55"/>
              </a:buClr>
              <a:buSzPts val="800"/>
              <a:buFont typeface="Arial"/>
              <a:buNone/>
            </a:pPr>
            <a:r>
              <a:t/>
            </a:r>
            <a:endParaRPr sz="800">
              <a:solidFill>
                <a:srgbClr val="5C5B55"/>
              </a:solidFill>
            </a:endParaRPr>
          </a:p>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I build stateful systems where models, tools, data, and evidence work together.</a:t>
            </a:r>
            <a:endParaRPr sz="1100"/>
          </a:p>
        </p:txBody>
      </p:sp>
      <p:sp>
        <p:nvSpPr>
          <p:cNvPr id="96" name="Google Shape;96;p16"/>
          <p:cNvSpPr/>
          <p:nvPr/>
        </p:nvSpPr>
        <p:spPr>
          <a:xfrm>
            <a:off x="2871788" y="1800225"/>
            <a:ext cx="2143200" cy="1700100"/>
          </a:xfrm>
          <a:prstGeom prst="roundRect">
            <a:avLst>
              <a:gd fmla="val 3361" name="adj"/>
            </a:avLst>
          </a:prstGeom>
          <a:solidFill>
            <a:srgbClr val="FFFDF9"/>
          </a:solidFill>
          <a:ln cap="flat" cmpd="sng" w="9525">
            <a:solidFill>
              <a:srgbClr val="E9E0D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7" name="Google Shape;97;p16"/>
          <p:cNvSpPr/>
          <p:nvPr/>
        </p:nvSpPr>
        <p:spPr>
          <a:xfrm>
            <a:off x="2871788" y="1800225"/>
            <a:ext cx="50100" cy="170010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6"/>
          <p:cNvSpPr/>
          <p:nvPr/>
        </p:nvSpPr>
        <p:spPr>
          <a:xfrm>
            <a:off x="3043238" y="1928813"/>
            <a:ext cx="1843200" cy="20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AUTHOR</a:t>
            </a:r>
            <a:endParaRPr sz="1100"/>
          </a:p>
        </p:txBody>
      </p:sp>
      <p:sp>
        <p:nvSpPr>
          <p:cNvPr id="99" name="Google Shape;99;p16"/>
          <p:cNvSpPr/>
          <p:nvPr/>
        </p:nvSpPr>
        <p:spPr>
          <a:xfrm>
            <a:off x="3043238" y="2171700"/>
            <a:ext cx="1843200" cy="12573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Author of </a:t>
            </a:r>
            <a:r>
              <a:rPr b="0" i="1" lang="en" sz="800">
                <a:solidFill>
                  <a:srgbClr val="5C5B55"/>
                </a:solidFill>
                <a:latin typeface="Arial"/>
                <a:ea typeface="Arial"/>
                <a:cs typeface="Arial"/>
                <a:sym typeface="Arial"/>
              </a:rPr>
              <a:t>Agent Memory</a:t>
            </a:r>
            <a:r>
              <a:rPr b="0" i="0" lang="en" sz="800">
                <a:solidFill>
                  <a:srgbClr val="5C5B55"/>
                </a:solidFill>
                <a:latin typeface="Arial"/>
                <a:ea typeface="Arial"/>
                <a:cs typeface="Arial"/>
                <a:sym typeface="Arial"/>
              </a:rPr>
              <a:t> for O’Reilly</a:t>
            </a:r>
            <a:endParaRPr sz="1100"/>
          </a:p>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A practical guide to agents that remember, adapt, and work across time.</a:t>
            </a:r>
            <a:endParaRPr sz="1100"/>
          </a:p>
        </p:txBody>
      </p:sp>
      <p:sp>
        <p:nvSpPr>
          <p:cNvPr id="100" name="Google Shape;100;p16"/>
          <p:cNvSpPr/>
          <p:nvPr/>
        </p:nvSpPr>
        <p:spPr>
          <a:xfrm>
            <a:off x="514350" y="3886200"/>
            <a:ext cx="6429300" cy="21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I focus on memory, retrieval, lifecycle policy, and governed adaptation.   ·   econoben.dev</a:t>
            </a:r>
            <a:endParaRPr sz="1100"/>
          </a:p>
        </p:txBody>
      </p:sp>
      <p:sp>
        <p:nvSpPr>
          <p:cNvPr id="101" name="Google Shape;101;p16"/>
          <p:cNvSpPr/>
          <p:nvPr/>
        </p:nvSpPr>
        <p:spPr>
          <a:xfrm>
            <a:off x="7843838" y="4543425"/>
            <a:ext cx="785700" cy="7200"/>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6"/>
          <p:cNvSpPr/>
          <p:nvPr/>
        </p:nvSpPr>
        <p:spPr>
          <a:xfrm>
            <a:off x="514350" y="4686300"/>
            <a:ext cx="1857300" cy="1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103" name="Google Shape;103;p16"/>
          <p:cNvSpPr/>
          <p:nvPr/>
        </p:nvSpPr>
        <p:spPr>
          <a:xfrm>
            <a:off x="8443913" y="4686300"/>
            <a:ext cx="185700" cy="128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02</a:t>
            </a:r>
            <a:endParaRPr sz="1100"/>
          </a:p>
        </p:txBody>
      </p:sp>
      <p:sp>
        <p:nvSpPr>
          <p:cNvPr id="104" name="Google Shape;104;p16"/>
          <p:cNvSpPr/>
          <p:nvPr/>
        </p:nvSpPr>
        <p:spPr>
          <a:xfrm>
            <a:off x="5700713" y="1485900"/>
            <a:ext cx="2314500" cy="2314500"/>
          </a:xfrm>
          <a:prstGeom prst="ellipse">
            <a:avLst/>
          </a:prstGeom>
          <a:noFill/>
          <a:ln cap="flat" cmpd="sng" w="38100">
            <a:solidFill>
              <a:srgbClr val="58BFA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05" name="Google Shape;105;p16"/>
          <p:cNvPicPr preferRelativeResize="0"/>
          <p:nvPr/>
        </p:nvPicPr>
        <p:blipFill rotWithShape="1">
          <a:blip r:embed="rId3">
            <a:alphaModFix/>
          </a:blip>
          <a:srcRect b="0" l="0" r="0" t="0"/>
          <a:stretch/>
        </p:blipFill>
        <p:spPr>
          <a:xfrm>
            <a:off x="5757863" y="1543050"/>
            <a:ext cx="2200200" cy="2200200"/>
          </a:xfrm>
          <a:prstGeom prst="ellipse">
            <a:avLst/>
          </a:prstGeom>
          <a:noFill/>
          <a:ln>
            <a:noFill/>
          </a:ln>
        </p:spPr>
      </p:pic>
      <p:pic>
        <p:nvPicPr>
          <p:cNvPr id="106" name="Google Shape;106;p16"/>
          <p:cNvPicPr preferRelativeResize="0"/>
          <p:nvPr/>
        </p:nvPicPr>
        <p:blipFill rotWithShape="1">
          <a:blip r:embed="rId4">
            <a:alphaModFix/>
          </a:blip>
          <a:srcRect b="0" l="0" r="0" t="0"/>
          <a:stretch/>
        </p:blipFill>
        <p:spPr>
          <a:xfrm>
            <a:off x="7989638" y="3714750"/>
            <a:ext cx="465637" cy="8286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111" name="Shape 111"/>
        <p:cNvGrpSpPr/>
        <p:nvPr/>
      </p:nvGrpSpPr>
      <p:grpSpPr>
        <a:xfrm>
          <a:off x="0" y="0"/>
          <a:ext cx="0" cy="0"/>
          <a:chOff x="0" y="0"/>
          <a:chExt cx="0" cy="0"/>
        </a:xfrm>
      </p:grpSpPr>
      <p:sp>
        <p:nvSpPr>
          <p:cNvPr id="112" name="Google Shape;112;p17"/>
          <p:cNvSpPr/>
          <p:nvPr/>
        </p:nvSpPr>
        <p:spPr>
          <a:xfrm>
            <a:off x="514350" y="385763"/>
            <a:ext cx="3071700" cy="1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ABOUT ME</a:t>
            </a:r>
            <a:endParaRPr sz="1100"/>
          </a:p>
        </p:txBody>
      </p:sp>
      <p:sp>
        <p:nvSpPr>
          <p:cNvPr id="113" name="Google Shape;113;p17"/>
          <p:cNvSpPr/>
          <p:nvPr/>
        </p:nvSpPr>
        <p:spPr>
          <a:xfrm>
            <a:off x="514350" y="757238"/>
            <a:ext cx="8115300" cy="4143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1" lang="en" sz="2500">
                <a:solidFill>
                  <a:srgbClr val="25251F"/>
                </a:solidFill>
                <a:latin typeface="Georgia"/>
                <a:ea typeface="Georgia"/>
                <a:cs typeface="Georgia"/>
                <a:sym typeface="Georgia"/>
              </a:rPr>
              <a:t>Agent Memory</a:t>
            </a:r>
            <a:r>
              <a:rPr b="1" lang="en" sz="2500">
                <a:solidFill>
                  <a:srgbClr val="25251F"/>
                </a:solidFill>
                <a:latin typeface="Georgia"/>
                <a:ea typeface="Georgia"/>
                <a:cs typeface="Georgia"/>
                <a:sym typeface="Georgia"/>
              </a:rPr>
              <a:t> Early Release</a:t>
            </a:r>
            <a:endParaRPr sz="1100"/>
          </a:p>
        </p:txBody>
      </p:sp>
      <p:sp>
        <p:nvSpPr>
          <p:cNvPr id="114" name="Google Shape;114;p17"/>
          <p:cNvSpPr/>
          <p:nvPr/>
        </p:nvSpPr>
        <p:spPr>
          <a:xfrm>
            <a:off x="514350" y="1314450"/>
            <a:ext cx="843000" cy="5010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7"/>
          <p:cNvSpPr/>
          <p:nvPr/>
        </p:nvSpPr>
        <p:spPr>
          <a:xfrm>
            <a:off x="1428750" y="1314450"/>
            <a:ext cx="500100" cy="5010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7"/>
          <p:cNvSpPr/>
          <p:nvPr/>
        </p:nvSpPr>
        <p:spPr>
          <a:xfrm>
            <a:off x="2000250" y="1314450"/>
            <a:ext cx="200100" cy="50100"/>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17" name="Google Shape;117;p17" title="Screenshot 2026-07-18 at 10.51.23.png"/>
          <p:cNvPicPr preferRelativeResize="0"/>
          <p:nvPr/>
        </p:nvPicPr>
        <p:blipFill>
          <a:blip r:embed="rId3">
            <a:alphaModFix/>
          </a:blip>
          <a:stretch>
            <a:fillRect/>
          </a:stretch>
        </p:blipFill>
        <p:spPr>
          <a:xfrm>
            <a:off x="3283450" y="1500900"/>
            <a:ext cx="2577101" cy="3441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122" name="Shape 122"/>
        <p:cNvGrpSpPr/>
        <p:nvPr/>
      </p:nvGrpSpPr>
      <p:grpSpPr>
        <a:xfrm>
          <a:off x="0" y="0"/>
          <a:ext cx="0" cy="0"/>
          <a:chOff x="0" y="0"/>
          <a:chExt cx="0" cy="0"/>
        </a:xfrm>
      </p:grpSpPr>
      <p:sp>
        <p:nvSpPr>
          <p:cNvPr id="123" name="Google Shape;123;p18"/>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lang="en" sz="700">
                <a:solidFill>
                  <a:srgbClr val="4F78ED"/>
                </a:solidFill>
              </a:rPr>
              <a:t>A Vendor Timeout</a:t>
            </a:r>
            <a:endParaRPr sz="1100"/>
          </a:p>
        </p:txBody>
      </p:sp>
      <p:sp>
        <p:nvSpPr>
          <p:cNvPr id="124" name="Google Shape;124;p18"/>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lang="en" sz="2500">
                <a:solidFill>
                  <a:srgbClr val="25251F"/>
                </a:solidFill>
                <a:latin typeface="Georgia"/>
                <a:ea typeface="Georgia"/>
                <a:cs typeface="Georgia"/>
                <a:sym typeface="Georgia"/>
              </a:rPr>
              <a:t>Something Is Off…</a:t>
            </a:r>
            <a:endParaRPr sz="1100"/>
          </a:p>
        </p:txBody>
      </p:sp>
      <p:sp>
        <p:nvSpPr>
          <p:cNvPr id="125" name="Google Shape;125;p18"/>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8"/>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8"/>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514350" y="1685925"/>
            <a:ext cx="5000625" cy="2414588"/>
          </a:xfrm>
          <a:prstGeom prst="roundRect">
            <a:avLst>
              <a:gd fmla="val 2367" name="adj"/>
            </a:avLst>
          </a:prstGeom>
          <a:solidFill>
            <a:srgbClr val="25251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8"/>
          <p:cNvSpPr/>
          <p:nvPr/>
        </p:nvSpPr>
        <p:spPr>
          <a:xfrm>
            <a:off x="742950" y="1928813"/>
            <a:ext cx="4500600" cy="1857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def submit_purchase(order_id: str, payload: dict) -&gt; VendorResponse:</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response = http_client.post(</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"https://buythings.important_vendor.com/purchases",</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json=payload,</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timeout=2.0,</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response.raise_for_status()</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rPr lang="en" sz="900">
                <a:solidFill>
                  <a:srgbClr val="F8F1E8"/>
                </a:solidFill>
              </a:rPr>
              <a:t>      return VendorResponse.from_json(response.json())</a:t>
            </a:r>
            <a:endParaRPr sz="900">
              <a:solidFill>
                <a:srgbClr val="F8F1E8"/>
              </a:solidFill>
            </a:endParaRPr>
          </a:p>
          <a:p>
            <a:pPr indent="0" lvl="0" marL="0" marR="0" rtl="0" algn="l">
              <a:lnSpc>
                <a:spcPct val="128000"/>
              </a:lnSpc>
              <a:spcBef>
                <a:spcPts val="0"/>
              </a:spcBef>
              <a:spcAft>
                <a:spcPts val="0"/>
              </a:spcAft>
              <a:buClr>
                <a:srgbClr val="F8F1E8"/>
              </a:buClr>
              <a:buSzPts val="900"/>
              <a:buFont typeface="Arial"/>
              <a:buNone/>
            </a:pPr>
            <a:r>
              <a:t/>
            </a:r>
            <a:endParaRPr sz="900">
              <a:solidFill>
                <a:srgbClr val="F8F1E8"/>
              </a:solidFill>
            </a:endParaRPr>
          </a:p>
        </p:txBody>
      </p:sp>
      <p:sp>
        <p:nvSpPr>
          <p:cNvPr id="130" name="Google Shape;130;p18"/>
          <p:cNvSpPr/>
          <p:nvPr/>
        </p:nvSpPr>
        <p:spPr>
          <a:xfrm>
            <a:off x="5900738" y="1800225"/>
            <a:ext cx="2000250"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lang="en" sz="1100">
                <a:solidFill>
                  <a:srgbClr val="25251F"/>
                </a:solidFill>
              </a:rPr>
              <a:t>The code has symptoms…</a:t>
            </a:r>
            <a:endParaRPr sz="1100"/>
          </a:p>
        </p:txBody>
      </p:sp>
      <p:sp>
        <p:nvSpPr>
          <p:cNvPr id="131" name="Google Shape;131;p18"/>
          <p:cNvSpPr/>
          <p:nvPr/>
        </p:nvSpPr>
        <p:spPr>
          <a:xfrm>
            <a:off x="6186488" y="2214563"/>
            <a:ext cx="150018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lang="en" sz="1000">
                <a:solidFill>
                  <a:srgbClr val="25251F"/>
                </a:solidFill>
              </a:rPr>
              <a:t>1. </a:t>
            </a:r>
            <a:r>
              <a:rPr b="1" lang="en" sz="1000">
                <a:solidFill>
                  <a:srgbClr val="25251F"/>
                </a:solidFill>
              </a:rPr>
              <a:t>It returns a timeout</a:t>
            </a:r>
            <a:endParaRPr sz="1100"/>
          </a:p>
        </p:txBody>
      </p:sp>
      <p:sp>
        <p:nvSpPr>
          <p:cNvPr id="132" name="Google Shape;132;p18"/>
          <p:cNvSpPr/>
          <p:nvPr/>
        </p:nvSpPr>
        <p:spPr>
          <a:xfrm>
            <a:off x="6186488" y="2900363"/>
            <a:ext cx="150018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lang="en" sz="1000">
                <a:solidFill>
                  <a:srgbClr val="25251F"/>
                </a:solidFill>
              </a:rPr>
              <a:t>2. It’s deceptively simple</a:t>
            </a:r>
            <a:endParaRPr sz="1100"/>
          </a:p>
        </p:txBody>
      </p:sp>
      <p:sp>
        <p:nvSpPr>
          <p:cNvPr id="133" name="Google Shape;133;p18"/>
          <p:cNvSpPr/>
          <p:nvPr/>
        </p:nvSpPr>
        <p:spPr>
          <a:xfrm>
            <a:off x="6186488" y="3128963"/>
            <a:ext cx="1500188" cy="342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800"/>
              <a:buFont typeface="Arial"/>
              <a:buNone/>
            </a:pPr>
            <a:r>
              <a:t/>
            </a:r>
            <a:endParaRPr sz="1100"/>
          </a:p>
        </p:txBody>
      </p:sp>
      <p:sp>
        <p:nvSpPr>
          <p:cNvPr id="134" name="Google Shape;134;p18"/>
          <p:cNvSpPr/>
          <p:nvPr/>
        </p:nvSpPr>
        <p:spPr>
          <a:xfrm>
            <a:off x="6186488" y="3586163"/>
            <a:ext cx="150018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lang="en" sz="1000">
                <a:solidFill>
                  <a:srgbClr val="25251F"/>
                </a:solidFill>
              </a:rPr>
              <a:t>3. No Error Logs</a:t>
            </a:r>
            <a:endParaRPr sz="1100"/>
          </a:p>
        </p:txBody>
      </p:sp>
      <p:sp>
        <p:nvSpPr>
          <p:cNvPr id="135" name="Google Shape;135;p18"/>
          <p:cNvSpPr/>
          <p:nvPr/>
        </p:nvSpPr>
        <p:spPr>
          <a:xfrm>
            <a:off x="6186488" y="3814763"/>
            <a:ext cx="1500188" cy="342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800"/>
              <a:buFont typeface="Arial"/>
              <a:buNone/>
            </a:pPr>
            <a:r>
              <a:t/>
            </a:r>
            <a:endParaRPr sz="1100"/>
          </a:p>
        </p:txBody>
      </p:sp>
      <p:sp>
        <p:nvSpPr>
          <p:cNvPr id="136" name="Google Shape;136;p18"/>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7" name="Google Shape;137;p18"/>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138" name="Google Shape;138;p18"/>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03</a:t>
            </a:r>
            <a:endParaRPr sz="1100"/>
          </a:p>
        </p:txBody>
      </p:sp>
      <p:pic>
        <p:nvPicPr>
          <p:cNvPr id="139" name="Google Shape;139;p18"/>
          <p:cNvPicPr preferRelativeResize="0"/>
          <p:nvPr/>
        </p:nvPicPr>
        <p:blipFill rotWithShape="1">
          <a:blip r:embed="rId3">
            <a:alphaModFix/>
          </a:blip>
          <a:srcRect b="0" l="0" r="0" t="0"/>
          <a:stretch/>
        </p:blipFill>
        <p:spPr>
          <a:xfrm>
            <a:off x="8009369" y="3714750"/>
            <a:ext cx="426176" cy="828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144" name="Shape 144"/>
        <p:cNvGrpSpPr/>
        <p:nvPr/>
      </p:nvGrpSpPr>
      <p:grpSpPr>
        <a:xfrm>
          <a:off x="0" y="0"/>
          <a:ext cx="0" cy="0"/>
          <a:chOff x="0" y="0"/>
          <a:chExt cx="0" cy="0"/>
        </a:xfrm>
      </p:grpSpPr>
      <p:sp>
        <p:nvSpPr>
          <p:cNvPr id="145" name="Google Shape;145;p19"/>
          <p:cNvSpPr/>
          <p:nvPr/>
        </p:nvSpPr>
        <p:spPr>
          <a:xfrm>
            <a:off x="514350" y="385763"/>
            <a:ext cx="3071700" cy="14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PLAUSIBLE FIX</a:t>
            </a:r>
            <a:endParaRPr sz="1100"/>
          </a:p>
        </p:txBody>
      </p:sp>
      <p:sp>
        <p:nvSpPr>
          <p:cNvPr id="146" name="Google Shape;146;p19"/>
          <p:cNvSpPr/>
          <p:nvPr/>
        </p:nvSpPr>
        <p:spPr>
          <a:xfrm>
            <a:off x="514350" y="757238"/>
            <a:ext cx="8115300" cy="4143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The fix looks right.</a:t>
            </a:r>
            <a:endParaRPr sz="1100"/>
          </a:p>
        </p:txBody>
      </p:sp>
      <p:sp>
        <p:nvSpPr>
          <p:cNvPr id="147" name="Google Shape;147;p19"/>
          <p:cNvSpPr/>
          <p:nvPr/>
        </p:nvSpPr>
        <p:spPr>
          <a:xfrm>
            <a:off x="514350" y="1314450"/>
            <a:ext cx="843000" cy="5010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1428750" y="1314450"/>
            <a:ext cx="500100" cy="5010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9"/>
          <p:cNvSpPr/>
          <p:nvPr/>
        </p:nvSpPr>
        <p:spPr>
          <a:xfrm>
            <a:off x="2000250" y="1314450"/>
            <a:ext cx="200100" cy="50100"/>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9"/>
          <p:cNvSpPr/>
          <p:nvPr/>
        </p:nvSpPr>
        <p:spPr>
          <a:xfrm>
            <a:off x="514350" y="1685925"/>
            <a:ext cx="5000700" cy="2414700"/>
          </a:xfrm>
          <a:prstGeom prst="roundRect">
            <a:avLst>
              <a:gd fmla="val 2367" name="adj"/>
            </a:avLst>
          </a:prstGeom>
          <a:solidFill>
            <a:srgbClr val="25251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9"/>
          <p:cNvSpPr/>
          <p:nvPr/>
        </p:nvSpPr>
        <p:spPr>
          <a:xfrm>
            <a:off x="742950" y="1928813"/>
            <a:ext cx="4500600" cy="18573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def submit_purchase(order_id, payload):</a:t>
            </a:r>
            <a:endParaRPr sz="1100"/>
          </a:p>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    for attempt in range(3):</a:t>
            </a:r>
            <a:endParaRPr sz="1100"/>
          </a:p>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        try:</a:t>
            </a:r>
            <a:endParaRPr sz="1100"/>
          </a:p>
          <a:p>
            <a:pPr indent="0" lvl="0" marL="0" marR="0" rtl="0" algn="l">
              <a:spcBef>
                <a:spcPts val="0"/>
              </a:spcBef>
              <a:spcAft>
                <a:spcPts val="0"/>
              </a:spcAft>
              <a:buNone/>
            </a:pPr>
            <a:r>
              <a:rPr lang="en" sz="900">
                <a:solidFill>
                  <a:srgbClr val="F8F1E8"/>
                </a:solidFill>
                <a:latin typeface="Calibri"/>
                <a:ea typeface="Calibri"/>
                <a:cs typeface="Calibri"/>
                <a:sym typeface="Calibri"/>
              </a:rPr>
              <a:t>            return post("/purchases", json=payload, timeout=2.0)</a:t>
            </a:r>
            <a:endParaRPr sz="1100"/>
          </a:p>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        except TimeoutError:</a:t>
            </a:r>
            <a:endParaRPr sz="1100"/>
          </a:p>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            if attempt == 2: raise</a:t>
            </a:r>
            <a:endParaRPr sz="1100"/>
          </a:p>
          <a:p>
            <a:pPr indent="0" lvl="0" marL="0" marR="0" rtl="0" algn="l">
              <a:lnSpc>
                <a:spcPct val="128000"/>
              </a:lnSpc>
              <a:spcBef>
                <a:spcPts val="0"/>
              </a:spcBef>
              <a:spcAft>
                <a:spcPts val="0"/>
              </a:spcAft>
              <a:buClr>
                <a:srgbClr val="F8F1E8"/>
              </a:buClr>
              <a:buSzPts val="900"/>
              <a:buFont typeface="Arial"/>
              <a:buNone/>
            </a:pPr>
            <a:r>
              <a:rPr b="0" i="0" lang="en" sz="900">
                <a:solidFill>
                  <a:srgbClr val="F8F1E8"/>
                </a:solidFill>
                <a:latin typeface="Arial"/>
                <a:ea typeface="Arial"/>
                <a:cs typeface="Arial"/>
                <a:sym typeface="Arial"/>
              </a:rPr>
              <a:t>            continue</a:t>
            </a:r>
            <a:endParaRPr sz="1100"/>
          </a:p>
        </p:txBody>
      </p:sp>
      <p:sp>
        <p:nvSpPr>
          <p:cNvPr id="152" name="Google Shape;152;p19"/>
          <p:cNvSpPr/>
          <p:nvPr/>
        </p:nvSpPr>
        <p:spPr>
          <a:xfrm>
            <a:off x="5900738" y="1800225"/>
            <a:ext cx="2000100" cy="21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What does the timeout tell us?</a:t>
            </a:r>
            <a:endParaRPr sz="1100"/>
          </a:p>
        </p:txBody>
      </p:sp>
      <p:sp>
        <p:nvSpPr>
          <p:cNvPr id="153" name="Google Shape;153;p19"/>
          <p:cNvSpPr/>
          <p:nvPr/>
        </p:nvSpPr>
        <p:spPr>
          <a:xfrm>
            <a:off x="6186488" y="2214563"/>
            <a:ext cx="1500300" cy="18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Retry budget</a:t>
            </a:r>
            <a:endParaRPr sz="1100"/>
          </a:p>
        </p:txBody>
      </p:sp>
      <p:sp>
        <p:nvSpPr>
          <p:cNvPr id="154" name="Google Shape;154;p19"/>
          <p:cNvSpPr/>
          <p:nvPr/>
        </p:nvSpPr>
        <p:spPr>
          <a:xfrm>
            <a:off x="6186488" y="2443163"/>
            <a:ext cx="1500300" cy="342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Three attempts. Bounded timeout.</a:t>
            </a:r>
            <a:endParaRPr sz="1100"/>
          </a:p>
        </p:txBody>
      </p:sp>
      <p:sp>
        <p:nvSpPr>
          <p:cNvPr id="155" name="Google Shape;155;p19"/>
          <p:cNvSpPr/>
          <p:nvPr/>
        </p:nvSpPr>
        <p:spPr>
          <a:xfrm>
            <a:off x="6186488" y="2900363"/>
            <a:ext cx="1500300" cy="18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Familiar pattern</a:t>
            </a:r>
            <a:endParaRPr sz="1100"/>
          </a:p>
        </p:txBody>
      </p:sp>
      <p:sp>
        <p:nvSpPr>
          <p:cNvPr id="156" name="Google Shape;156;p19"/>
          <p:cNvSpPr/>
          <p:nvPr/>
        </p:nvSpPr>
        <p:spPr>
          <a:xfrm>
            <a:off x="6186488" y="3128963"/>
            <a:ext cx="1500300" cy="342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Reads often tolerate this.</a:t>
            </a:r>
            <a:endParaRPr sz="1100"/>
          </a:p>
        </p:txBody>
      </p:sp>
      <p:sp>
        <p:nvSpPr>
          <p:cNvPr id="157" name="Google Shape;157;p19"/>
          <p:cNvSpPr/>
          <p:nvPr/>
        </p:nvSpPr>
        <p:spPr>
          <a:xfrm>
            <a:off x="6186488" y="3586163"/>
            <a:ext cx="1500300" cy="18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Missing state</a:t>
            </a:r>
            <a:endParaRPr sz="1100"/>
          </a:p>
        </p:txBody>
      </p:sp>
      <p:sp>
        <p:nvSpPr>
          <p:cNvPr id="158" name="Google Shape;158;p19"/>
          <p:cNvSpPr/>
          <p:nvPr/>
        </p:nvSpPr>
        <p:spPr>
          <a:xfrm>
            <a:off x="6186488" y="3814763"/>
            <a:ext cx="1500300" cy="3429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A billable write may already have committed.</a:t>
            </a:r>
            <a:endParaRPr sz="1100"/>
          </a:p>
        </p:txBody>
      </p:sp>
      <p:sp>
        <p:nvSpPr>
          <p:cNvPr id="159" name="Google Shape;159;p19"/>
          <p:cNvSpPr/>
          <p:nvPr/>
        </p:nvSpPr>
        <p:spPr>
          <a:xfrm>
            <a:off x="7843838" y="4543425"/>
            <a:ext cx="785700" cy="7200"/>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514350" y="4686300"/>
            <a:ext cx="1857300" cy="12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161" name="Google Shape;161;p19"/>
          <p:cNvSpPr/>
          <p:nvPr/>
        </p:nvSpPr>
        <p:spPr>
          <a:xfrm>
            <a:off x="8443913" y="4686300"/>
            <a:ext cx="185700" cy="128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03</a:t>
            </a:r>
            <a:endParaRPr sz="1100"/>
          </a:p>
        </p:txBody>
      </p:sp>
      <p:pic>
        <p:nvPicPr>
          <p:cNvPr id="162" name="Google Shape;162;p19"/>
          <p:cNvPicPr preferRelativeResize="0"/>
          <p:nvPr/>
        </p:nvPicPr>
        <p:blipFill rotWithShape="1">
          <a:blip r:embed="rId3">
            <a:alphaModFix/>
          </a:blip>
          <a:srcRect b="0" l="0" r="0" t="0"/>
          <a:stretch/>
        </p:blipFill>
        <p:spPr>
          <a:xfrm>
            <a:off x="8009369" y="3714750"/>
            <a:ext cx="426176" cy="828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167" name="Shape 167"/>
        <p:cNvGrpSpPr/>
        <p:nvPr/>
      </p:nvGrpSpPr>
      <p:grpSpPr>
        <a:xfrm>
          <a:off x="0" y="0"/>
          <a:ext cx="0" cy="0"/>
          <a:chOff x="0" y="0"/>
          <a:chExt cx="0" cy="0"/>
        </a:xfrm>
      </p:grpSpPr>
      <p:sp>
        <p:nvSpPr>
          <p:cNvPr id="168" name="Google Shape;168;p20"/>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INCIDENT</a:t>
            </a:r>
            <a:endParaRPr sz="1100"/>
          </a:p>
        </p:txBody>
      </p:sp>
      <p:sp>
        <p:nvSpPr>
          <p:cNvPr id="169" name="Google Shape;169;p20"/>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The timeout did not mean failure.</a:t>
            </a:r>
            <a:endParaRPr sz="1100"/>
          </a:p>
        </p:txBody>
      </p:sp>
      <p:sp>
        <p:nvSpPr>
          <p:cNvPr id="170" name="Google Shape;170;p20"/>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20"/>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2" name="Google Shape;172;p20"/>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20"/>
          <p:cNvSpPr/>
          <p:nvPr/>
        </p:nvSpPr>
        <p:spPr>
          <a:xfrm>
            <a:off x="1957388"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EB9A5"/>
              </a:buClr>
              <a:buSzPts val="1400"/>
              <a:buFont typeface="Arial"/>
              <a:buNone/>
            </a:pPr>
            <a:r>
              <a:rPr b="1" i="0" lang="en" sz="1400">
                <a:solidFill>
                  <a:srgbClr val="4EB9A5"/>
                </a:solidFill>
                <a:latin typeface="Arial"/>
                <a:ea typeface="Arial"/>
                <a:cs typeface="Arial"/>
                <a:sym typeface="Arial"/>
              </a:rPr>
              <a:t>→</a:t>
            </a:r>
            <a:endParaRPr sz="1100"/>
          </a:p>
        </p:txBody>
      </p:sp>
      <p:sp>
        <p:nvSpPr>
          <p:cNvPr id="174" name="Google Shape;174;p20"/>
          <p:cNvSpPr/>
          <p:nvPr/>
        </p:nvSpPr>
        <p:spPr>
          <a:xfrm>
            <a:off x="3800475"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F78ED"/>
              </a:buClr>
              <a:buSzPts val="1400"/>
              <a:buFont typeface="Arial"/>
              <a:buNone/>
            </a:pPr>
            <a:r>
              <a:rPr b="1" i="0" lang="en" sz="1400">
                <a:solidFill>
                  <a:srgbClr val="4F78ED"/>
                </a:solidFill>
                <a:latin typeface="Arial"/>
                <a:ea typeface="Arial"/>
                <a:cs typeface="Arial"/>
                <a:sym typeface="Arial"/>
              </a:rPr>
              <a:t>→</a:t>
            </a:r>
            <a:endParaRPr sz="1100"/>
          </a:p>
        </p:txBody>
      </p:sp>
      <p:sp>
        <p:nvSpPr>
          <p:cNvPr id="175" name="Google Shape;175;p20"/>
          <p:cNvSpPr/>
          <p:nvPr/>
        </p:nvSpPr>
        <p:spPr>
          <a:xfrm>
            <a:off x="5643563"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B94C"/>
              </a:buClr>
              <a:buSzPts val="1400"/>
              <a:buFont typeface="Arial"/>
              <a:buNone/>
            </a:pPr>
            <a:r>
              <a:rPr b="1" i="0" lang="en" sz="1400">
                <a:solidFill>
                  <a:srgbClr val="E5B94C"/>
                </a:solidFill>
                <a:latin typeface="Arial"/>
                <a:ea typeface="Arial"/>
                <a:cs typeface="Arial"/>
                <a:sym typeface="Arial"/>
              </a:rPr>
              <a:t>→</a:t>
            </a:r>
            <a:endParaRPr sz="1100"/>
          </a:p>
        </p:txBody>
      </p:sp>
      <p:sp>
        <p:nvSpPr>
          <p:cNvPr id="176" name="Google Shape;176;p20"/>
          <p:cNvSpPr/>
          <p:nvPr/>
        </p:nvSpPr>
        <p:spPr>
          <a:xfrm>
            <a:off x="514350" y="1985963"/>
            <a:ext cx="371475" cy="371475"/>
          </a:xfrm>
          <a:prstGeom prst="ellipse">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20"/>
          <p:cNvSpPr/>
          <p:nvPr/>
        </p:nvSpPr>
        <p:spPr>
          <a:xfrm>
            <a:off x="514350"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01</a:t>
            </a:r>
            <a:endParaRPr sz="1100"/>
          </a:p>
        </p:txBody>
      </p:sp>
      <p:sp>
        <p:nvSpPr>
          <p:cNvPr id="178" name="Google Shape;178;p20"/>
          <p:cNvSpPr/>
          <p:nvPr/>
        </p:nvSpPr>
        <p:spPr>
          <a:xfrm>
            <a:off x="514350"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Request accepted</a:t>
            </a:r>
            <a:endParaRPr sz="1100"/>
          </a:p>
        </p:txBody>
      </p:sp>
      <p:sp>
        <p:nvSpPr>
          <p:cNvPr id="179" name="Google Shape;179;p20"/>
          <p:cNvSpPr/>
          <p:nvPr/>
        </p:nvSpPr>
        <p:spPr>
          <a:xfrm>
            <a:off x="514350"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The vendor commits the charge.</a:t>
            </a:r>
            <a:endParaRPr sz="1100"/>
          </a:p>
        </p:txBody>
      </p:sp>
      <p:sp>
        <p:nvSpPr>
          <p:cNvPr id="180" name="Google Shape;180;p20"/>
          <p:cNvSpPr/>
          <p:nvPr/>
        </p:nvSpPr>
        <p:spPr>
          <a:xfrm>
            <a:off x="514350" y="3543300"/>
            <a:ext cx="1500188"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20"/>
          <p:cNvSpPr/>
          <p:nvPr/>
        </p:nvSpPr>
        <p:spPr>
          <a:xfrm>
            <a:off x="2357438" y="1985963"/>
            <a:ext cx="371475" cy="371475"/>
          </a:xfrm>
          <a:prstGeom prst="ellipse">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0"/>
          <p:cNvSpPr/>
          <p:nvPr/>
        </p:nvSpPr>
        <p:spPr>
          <a:xfrm>
            <a:off x="2357438"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02</a:t>
            </a:r>
            <a:endParaRPr sz="1100"/>
          </a:p>
        </p:txBody>
      </p:sp>
      <p:sp>
        <p:nvSpPr>
          <p:cNvPr id="183" name="Google Shape;183;p20"/>
          <p:cNvSpPr/>
          <p:nvPr/>
        </p:nvSpPr>
        <p:spPr>
          <a:xfrm>
            <a:off x="2357438"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Response lost</a:t>
            </a:r>
            <a:endParaRPr sz="1100"/>
          </a:p>
        </p:txBody>
      </p:sp>
      <p:sp>
        <p:nvSpPr>
          <p:cNvPr id="184" name="Google Shape;184;p20"/>
          <p:cNvSpPr/>
          <p:nvPr/>
        </p:nvSpPr>
        <p:spPr>
          <a:xfrm>
            <a:off x="2357438"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The agent observes only a timeout.</a:t>
            </a:r>
            <a:endParaRPr sz="1100"/>
          </a:p>
        </p:txBody>
      </p:sp>
      <p:sp>
        <p:nvSpPr>
          <p:cNvPr id="185" name="Google Shape;185;p20"/>
          <p:cNvSpPr/>
          <p:nvPr/>
        </p:nvSpPr>
        <p:spPr>
          <a:xfrm>
            <a:off x="2357438" y="3543300"/>
            <a:ext cx="1500188"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6" name="Google Shape;186;p20"/>
          <p:cNvSpPr/>
          <p:nvPr/>
        </p:nvSpPr>
        <p:spPr>
          <a:xfrm>
            <a:off x="4200525" y="1985963"/>
            <a:ext cx="371475" cy="371475"/>
          </a:xfrm>
          <a:prstGeom prst="ellipse">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0"/>
          <p:cNvSpPr/>
          <p:nvPr/>
        </p:nvSpPr>
        <p:spPr>
          <a:xfrm>
            <a:off x="4200525"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03</a:t>
            </a:r>
            <a:endParaRPr sz="1100"/>
          </a:p>
        </p:txBody>
      </p:sp>
      <p:sp>
        <p:nvSpPr>
          <p:cNvPr id="188" name="Google Shape;188;p20"/>
          <p:cNvSpPr/>
          <p:nvPr/>
        </p:nvSpPr>
        <p:spPr>
          <a:xfrm>
            <a:off x="4200525"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Blind retry</a:t>
            </a:r>
            <a:endParaRPr sz="1100"/>
          </a:p>
        </p:txBody>
      </p:sp>
      <p:sp>
        <p:nvSpPr>
          <p:cNvPr id="189" name="Google Shape;189;p20"/>
          <p:cNvSpPr/>
          <p:nvPr/>
        </p:nvSpPr>
        <p:spPr>
          <a:xfrm>
            <a:off x="4200525"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A fresh request repeats the operation.</a:t>
            </a:r>
            <a:endParaRPr sz="1100"/>
          </a:p>
        </p:txBody>
      </p:sp>
      <p:sp>
        <p:nvSpPr>
          <p:cNvPr id="190" name="Google Shape;190;p20"/>
          <p:cNvSpPr/>
          <p:nvPr/>
        </p:nvSpPr>
        <p:spPr>
          <a:xfrm>
            <a:off x="4200525" y="3543300"/>
            <a:ext cx="1500188"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1" name="Google Shape;191;p20"/>
          <p:cNvSpPr/>
          <p:nvPr/>
        </p:nvSpPr>
        <p:spPr>
          <a:xfrm>
            <a:off x="6043613" y="1985963"/>
            <a:ext cx="371475" cy="371475"/>
          </a:xfrm>
          <a:prstGeom prst="ellipse">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2" name="Google Shape;192;p20"/>
          <p:cNvSpPr/>
          <p:nvPr/>
        </p:nvSpPr>
        <p:spPr>
          <a:xfrm>
            <a:off x="6043613"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04</a:t>
            </a:r>
            <a:endParaRPr sz="1100"/>
          </a:p>
        </p:txBody>
      </p:sp>
      <p:sp>
        <p:nvSpPr>
          <p:cNvPr id="193" name="Google Shape;193;p20"/>
          <p:cNvSpPr/>
          <p:nvPr/>
        </p:nvSpPr>
        <p:spPr>
          <a:xfrm>
            <a:off x="6043613"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Duplicate charge</a:t>
            </a:r>
            <a:endParaRPr sz="1100"/>
          </a:p>
        </p:txBody>
      </p:sp>
      <p:sp>
        <p:nvSpPr>
          <p:cNvPr id="194" name="Google Shape;194;p20"/>
          <p:cNvSpPr/>
          <p:nvPr/>
        </p:nvSpPr>
        <p:spPr>
          <a:xfrm>
            <a:off x="6043613"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The observation was ambiguous. The side effect was not.</a:t>
            </a:r>
            <a:endParaRPr sz="1100"/>
          </a:p>
        </p:txBody>
      </p:sp>
      <p:sp>
        <p:nvSpPr>
          <p:cNvPr id="195" name="Google Shape;195;p20"/>
          <p:cNvSpPr/>
          <p:nvPr/>
        </p:nvSpPr>
        <p:spPr>
          <a:xfrm>
            <a:off x="6043613" y="3543300"/>
            <a:ext cx="1500188" cy="14288"/>
          </a:xfrm>
          <a:prstGeom prst="rect">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6" name="Google Shape;196;p20"/>
          <p:cNvSpPr/>
          <p:nvPr/>
        </p:nvSpPr>
        <p:spPr>
          <a:xfrm>
            <a:off x="514350" y="3914775"/>
            <a:ext cx="51435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A missing response is evidence about the network—not proof about the write.</a:t>
            </a:r>
            <a:endParaRPr sz="1100"/>
          </a:p>
        </p:txBody>
      </p:sp>
      <p:sp>
        <p:nvSpPr>
          <p:cNvPr id="197" name="Google Shape;197;p20"/>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0"/>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199" name="Google Shape;199;p20"/>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04</a:t>
            </a:r>
            <a:endParaRPr sz="1100"/>
          </a:p>
        </p:txBody>
      </p:sp>
      <p:pic>
        <p:nvPicPr>
          <p:cNvPr id="200" name="Google Shape;200;p20"/>
          <p:cNvPicPr preferRelativeResize="0"/>
          <p:nvPr/>
        </p:nvPicPr>
        <p:blipFill rotWithShape="1">
          <a:blip r:embed="rId3">
            <a:alphaModFix/>
          </a:blip>
          <a:srcRect b="0" l="0" r="0" t="0"/>
          <a:stretch/>
        </p:blipFill>
        <p:spPr>
          <a:xfrm>
            <a:off x="7902925" y="3714750"/>
            <a:ext cx="639063" cy="828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205" name="Shape 205"/>
        <p:cNvGrpSpPr/>
        <p:nvPr/>
      </p:nvGrpSpPr>
      <p:grpSpPr>
        <a:xfrm>
          <a:off x="0" y="0"/>
          <a:ext cx="0" cy="0"/>
          <a:chOff x="0" y="0"/>
          <a:chExt cx="0" cy="0"/>
        </a:xfrm>
      </p:grpSpPr>
      <p:sp>
        <p:nvSpPr>
          <p:cNvPr id="206" name="Google Shape;206;p21"/>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SAME MODEL · DIFFERENT HARNESS</a:t>
            </a:r>
            <a:endParaRPr sz="1100"/>
          </a:p>
        </p:txBody>
      </p:sp>
      <p:sp>
        <p:nvSpPr>
          <p:cNvPr id="207" name="Google Shape;207;p21"/>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The harness changes the safe action.</a:t>
            </a:r>
            <a:endParaRPr sz="1100"/>
          </a:p>
        </p:txBody>
      </p:sp>
      <p:sp>
        <p:nvSpPr>
          <p:cNvPr id="208" name="Google Shape;208;p21"/>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21"/>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0" name="Google Shape;210;p21"/>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1" name="Google Shape;211;p21"/>
          <p:cNvSpPr/>
          <p:nvPr/>
        </p:nvSpPr>
        <p:spPr>
          <a:xfrm>
            <a:off x="514350"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BLANK-SLATE</a:t>
            </a:r>
            <a:endParaRPr sz="1100"/>
          </a:p>
        </p:txBody>
      </p:sp>
      <p:sp>
        <p:nvSpPr>
          <p:cNvPr id="212" name="Google Shape;212;p21"/>
          <p:cNvSpPr/>
          <p:nvPr/>
        </p:nvSpPr>
        <p:spPr>
          <a:xfrm>
            <a:off x="514350" y="2028825"/>
            <a:ext cx="214312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New request.</a:t>
            </a:r>
            <a:endParaRPr sz="1100"/>
          </a:p>
        </p:txBody>
      </p:sp>
      <p:sp>
        <p:nvSpPr>
          <p:cNvPr id="213" name="Google Shape;213;p21"/>
          <p:cNvSpPr/>
          <p:nvPr/>
        </p:nvSpPr>
        <p:spPr>
          <a:xfrm>
            <a:off x="514350"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700"/>
              <a:buFont typeface="Georgia"/>
              <a:buNone/>
            </a:pPr>
            <a:r>
              <a:rPr b="1" i="0" lang="en" sz="1700">
                <a:solidFill>
                  <a:srgbClr val="F1872D"/>
                </a:solidFill>
                <a:latin typeface="Georgia"/>
                <a:ea typeface="Georgia"/>
                <a:cs typeface="Georgia"/>
                <a:sym typeface="Georgia"/>
              </a:rPr>
              <a:t>Retry after timeout.</a:t>
            </a:r>
            <a:endParaRPr sz="1100"/>
          </a:p>
        </p:txBody>
      </p:sp>
      <p:sp>
        <p:nvSpPr>
          <p:cNvPr id="214" name="Google Shape;214;p21"/>
          <p:cNvSpPr/>
          <p:nvPr/>
        </p:nvSpPr>
        <p:spPr>
          <a:xfrm>
            <a:off x="514350"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Fresh key each attempt</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No state reconciliation</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Duplicate charge possible</a:t>
            </a:r>
            <a:endParaRPr sz="1100"/>
          </a:p>
        </p:txBody>
      </p:sp>
      <p:sp>
        <p:nvSpPr>
          <p:cNvPr id="215" name="Google Shape;215;p21"/>
          <p:cNvSpPr/>
          <p:nvPr/>
        </p:nvSpPr>
        <p:spPr>
          <a:xfrm>
            <a:off x="4257675" y="2457450"/>
            <a:ext cx="628650" cy="400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18B82"/>
              </a:buClr>
              <a:buSzPts val="2500"/>
              <a:buFont typeface="Arial"/>
              <a:buNone/>
            </a:pPr>
            <a:r>
              <a:rPr b="0" i="0" lang="en" sz="2500">
                <a:solidFill>
                  <a:srgbClr val="918B82"/>
                </a:solidFill>
                <a:latin typeface="Arial"/>
                <a:ea typeface="Arial"/>
                <a:cs typeface="Arial"/>
                <a:sym typeface="Arial"/>
              </a:rPr>
              <a:t>→</a:t>
            </a:r>
            <a:endParaRPr sz="1100"/>
          </a:p>
        </p:txBody>
      </p:sp>
      <p:sp>
        <p:nvSpPr>
          <p:cNvPr id="216" name="Google Shape;216;p21"/>
          <p:cNvSpPr/>
          <p:nvPr/>
        </p:nvSpPr>
        <p:spPr>
          <a:xfrm>
            <a:off x="4929188"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MEMORY-CAPABLE</a:t>
            </a:r>
            <a:endParaRPr sz="1100"/>
          </a:p>
        </p:txBody>
      </p:sp>
      <p:sp>
        <p:nvSpPr>
          <p:cNvPr id="217" name="Google Shape;217;p21"/>
          <p:cNvSpPr/>
          <p:nvPr/>
        </p:nvSpPr>
        <p:spPr>
          <a:xfrm>
            <a:off x="4929188" y="2028825"/>
            <a:ext cx="24288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Reuse the intent.</a:t>
            </a:r>
            <a:endParaRPr sz="1100"/>
          </a:p>
        </p:txBody>
      </p:sp>
      <p:sp>
        <p:nvSpPr>
          <p:cNvPr id="218" name="Google Shape;218;p21"/>
          <p:cNvSpPr/>
          <p:nvPr/>
        </p:nvSpPr>
        <p:spPr>
          <a:xfrm>
            <a:off x="4929188"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700"/>
              <a:buFont typeface="Georgia"/>
              <a:buNone/>
            </a:pPr>
            <a:r>
              <a:rPr b="1" i="0" lang="en" sz="1700">
                <a:solidFill>
                  <a:srgbClr val="4EB9A5"/>
                </a:solidFill>
                <a:latin typeface="Georgia"/>
                <a:ea typeface="Georgia"/>
                <a:cs typeface="Georgia"/>
                <a:sym typeface="Georgia"/>
              </a:rPr>
              <a:t>Reconcile before retry.</a:t>
            </a:r>
            <a:endParaRPr sz="1100"/>
          </a:p>
        </p:txBody>
      </p:sp>
      <p:sp>
        <p:nvSpPr>
          <p:cNvPr id="219" name="Google Shape;219;p21"/>
          <p:cNvSpPr/>
          <p:nvPr/>
        </p:nvSpPr>
        <p:spPr>
          <a:xfrm>
            <a:off x="4929188"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Stable idempotency key</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Authoritative state check</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One intended purchase</a:t>
            </a:r>
            <a:endParaRPr sz="1100"/>
          </a:p>
        </p:txBody>
      </p:sp>
      <p:sp>
        <p:nvSpPr>
          <p:cNvPr id="220" name="Google Shape;220;p21"/>
          <p:cNvSpPr/>
          <p:nvPr/>
        </p:nvSpPr>
        <p:spPr>
          <a:xfrm>
            <a:off x="514350" y="3914775"/>
            <a:ext cx="6986588" cy="14288"/>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21"/>
          <p:cNvSpPr/>
          <p:nvPr/>
        </p:nvSpPr>
        <p:spPr>
          <a:xfrm>
            <a:off x="514350" y="4057650"/>
            <a:ext cx="642937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Same model. Different state, evidence, and tools.</a:t>
            </a:r>
            <a:endParaRPr sz="1100"/>
          </a:p>
        </p:txBody>
      </p:sp>
      <p:sp>
        <p:nvSpPr>
          <p:cNvPr id="222" name="Google Shape;222;p21"/>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21"/>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224" name="Google Shape;224;p21"/>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05</a:t>
            </a:r>
            <a:endParaRPr sz="1100"/>
          </a:p>
        </p:txBody>
      </p:sp>
      <p:pic>
        <p:nvPicPr>
          <p:cNvPr id="225" name="Google Shape;225;p21"/>
          <p:cNvPicPr preferRelativeResize="0"/>
          <p:nvPr/>
        </p:nvPicPr>
        <p:blipFill rotWithShape="1">
          <a:blip r:embed="rId3">
            <a:alphaModFix/>
          </a:blip>
          <a:srcRect b="0" l="0" r="0" t="0"/>
          <a:stretch/>
        </p:blipFill>
        <p:spPr>
          <a:xfrm>
            <a:off x="7991611" y="3714750"/>
            <a:ext cx="461690" cy="828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230" name="Shape 230"/>
        <p:cNvGrpSpPr/>
        <p:nvPr/>
      </p:nvGrpSpPr>
      <p:grpSpPr>
        <a:xfrm>
          <a:off x="0" y="0"/>
          <a:ext cx="0" cy="0"/>
          <a:chOff x="0" y="0"/>
          <a:chExt cx="0" cy="0"/>
        </a:xfrm>
      </p:grpSpPr>
      <p:sp>
        <p:nvSpPr>
          <p:cNvPr id="231" name="Google Shape;231;p22"/>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CHAPTER 1 · FIGURE 1-1</a:t>
            </a:r>
            <a:endParaRPr sz="1100"/>
          </a:p>
        </p:txBody>
      </p:sp>
      <p:sp>
        <p:nvSpPr>
          <p:cNvPr id="232" name="Google Shape;232;p22"/>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Context disappears. Memory is carried.</a:t>
            </a:r>
            <a:endParaRPr sz="1100"/>
          </a:p>
        </p:txBody>
      </p:sp>
      <p:sp>
        <p:nvSpPr>
          <p:cNvPr id="233" name="Google Shape;233;p22"/>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2"/>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5" name="Google Shape;235;p22"/>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2"/>
          <p:cNvSpPr/>
          <p:nvPr/>
        </p:nvSpPr>
        <p:spPr>
          <a:xfrm>
            <a:off x="4514850" y="1743075"/>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CONTEXT</a:t>
            </a:r>
            <a:endParaRPr sz="1100"/>
          </a:p>
        </p:txBody>
      </p:sp>
      <p:sp>
        <p:nvSpPr>
          <p:cNvPr id="237" name="Google Shape;237;p22"/>
          <p:cNvSpPr/>
          <p:nvPr/>
        </p:nvSpPr>
        <p:spPr>
          <a:xfrm>
            <a:off x="4514850" y="1985963"/>
            <a:ext cx="3429000" cy="385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Available to the model now—then rebuilt.</a:t>
            </a:r>
            <a:endParaRPr sz="1100"/>
          </a:p>
        </p:txBody>
      </p:sp>
      <p:sp>
        <p:nvSpPr>
          <p:cNvPr id="238" name="Google Shape;238;p22"/>
          <p:cNvSpPr/>
          <p:nvPr/>
        </p:nvSpPr>
        <p:spPr>
          <a:xfrm>
            <a:off x="4514850" y="2643188"/>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MEMORY</a:t>
            </a:r>
            <a:endParaRPr sz="1100"/>
          </a:p>
        </p:txBody>
      </p:sp>
      <p:sp>
        <p:nvSpPr>
          <p:cNvPr id="239" name="Google Shape;239;p22"/>
          <p:cNvSpPr/>
          <p:nvPr/>
        </p:nvSpPr>
        <p:spPr>
          <a:xfrm>
            <a:off x="4514850" y="2886075"/>
            <a:ext cx="3357563" cy="45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Deliberately retained so it can affect later work.</a:t>
            </a:r>
            <a:endParaRPr sz="1100"/>
          </a:p>
        </p:txBody>
      </p:sp>
      <p:sp>
        <p:nvSpPr>
          <p:cNvPr id="240" name="Google Shape;240;p22"/>
          <p:cNvSpPr/>
          <p:nvPr/>
        </p:nvSpPr>
        <p:spPr>
          <a:xfrm>
            <a:off x="4514850" y="3571875"/>
            <a:ext cx="1143000"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HARNESS</a:t>
            </a:r>
            <a:endParaRPr sz="1100"/>
          </a:p>
        </p:txBody>
      </p:sp>
      <p:sp>
        <p:nvSpPr>
          <p:cNvPr id="241" name="Google Shape;241;p22"/>
          <p:cNvSpPr/>
          <p:nvPr/>
        </p:nvSpPr>
        <p:spPr>
          <a:xfrm>
            <a:off x="4514850" y="3814763"/>
            <a:ext cx="3286125" cy="2714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Persistence and retrieval move evidence across boundaries.</a:t>
            </a:r>
            <a:endParaRPr sz="1100"/>
          </a:p>
        </p:txBody>
      </p:sp>
      <p:sp>
        <p:nvSpPr>
          <p:cNvPr id="242" name="Google Shape;242;p22"/>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3" name="Google Shape;243;p22"/>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244" name="Google Shape;244;p22"/>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06</a:t>
            </a:r>
            <a:endParaRPr sz="1100"/>
          </a:p>
        </p:txBody>
      </p:sp>
      <p:pic>
        <p:nvPicPr>
          <p:cNvPr id="245" name="Google Shape;245;p22"/>
          <p:cNvPicPr preferRelativeResize="0"/>
          <p:nvPr/>
        </p:nvPicPr>
        <p:blipFill rotWithShape="1">
          <a:blip r:embed="rId3">
            <a:alphaModFix/>
          </a:blip>
          <a:srcRect b="0" l="0" r="0" t="0"/>
          <a:stretch/>
        </p:blipFill>
        <p:spPr>
          <a:xfrm>
            <a:off x="514350" y="1669521"/>
            <a:ext cx="3714750" cy="249025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250" name="Shape 250"/>
        <p:cNvGrpSpPr/>
        <p:nvPr/>
      </p:nvGrpSpPr>
      <p:grpSpPr>
        <a:xfrm>
          <a:off x="0" y="0"/>
          <a:ext cx="0" cy="0"/>
          <a:chOff x="0" y="0"/>
          <a:chExt cx="0" cy="0"/>
        </a:xfrm>
      </p:grpSpPr>
      <p:sp>
        <p:nvSpPr>
          <p:cNvPr id="251" name="Google Shape;251;p23"/>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EVIDENCE PATH</a:t>
            </a:r>
            <a:endParaRPr sz="1100"/>
          </a:p>
        </p:txBody>
      </p:sp>
      <p:sp>
        <p:nvSpPr>
          <p:cNvPr id="252" name="Google Shape;252;p23"/>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The useful answer was already in four places.</a:t>
            </a:r>
            <a:endParaRPr sz="1100"/>
          </a:p>
        </p:txBody>
      </p:sp>
      <p:sp>
        <p:nvSpPr>
          <p:cNvPr id="253" name="Google Shape;253;p23"/>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23"/>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3"/>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6" name="Google Shape;256;p23"/>
          <p:cNvSpPr/>
          <p:nvPr/>
        </p:nvSpPr>
        <p:spPr>
          <a:xfrm>
            <a:off x="1957388"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EB9A5"/>
              </a:buClr>
              <a:buSzPts val="1400"/>
              <a:buFont typeface="Arial"/>
              <a:buNone/>
            </a:pPr>
            <a:r>
              <a:rPr b="1" i="0" lang="en" sz="1400">
                <a:solidFill>
                  <a:srgbClr val="4EB9A5"/>
                </a:solidFill>
                <a:latin typeface="Arial"/>
                <a:ea typeface="Arial"/>
                <a:cs typeface="Arial"/>
                <a:sym typeface="Arial"/>
              </a:rPr>
              <a:t>→</a:t>
            </a:r>
            <a:endParaRPr sz="1100"/>
          </a:p>
        </p:txBody>
      </p:sp>
      <p:sp>
        <p:nvSpPr>
          <p:cNvPr id="257" name="Google Shape;257;p23"/>
          <p:cNvSpPr/>
          <p:nvPr/>
        </p:nvSpPr>
        <p:spPr>
          <a:xfrm>
            <a:off x="3800475"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F78ED"/>
              </a:buClr>
              <a:buSzPts val="1400"/>
              <a:buFont typeface="Arial"/>
              <a:buNone/>
            </a:pPr>
            <a:r>
              <a:rPr b="1" i="0" lang="en" sz="1400">
                <a:solidFill>
                  <a:srgbClr val="4F78ED"/>
                </a:solidFill>
                <a:latin typeface="Arial"/>
                <a:ea typeface="Arial"/>
                <a:cs typeface="Arial"/>
                <a:sym typeface="Arial"/>
              </a:rPr>
              <a:t>→</a:t>
            </a:r>
            <a:endParaRPr sz="1100"/>
          </a:p>
        </p:txBody>
      </p:sp>
      <p:sp>
        <p:nvSpPr>
          <p:cNvPr id="258" name="Google Shape;258;p23"/>
          <p:cNvSpPr/>
          <p:nvPr/>
        </p:nvSpPr>
        <p:spPr>
          <a:xfrm>
            <a:off x="5643563"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B94C"/>
              </a:buClr>
              <a:buSzPts val="1400"/>
              <a:buFont typeface="Arial"/>
              <a:buNone/>
            </a:pPr>
            <a:r>
              <a:rPr b="1" i="0" lang="en" sz="1400">
                <a:solidFill>
                  <a:srgbClr val="E5B94C"/>
                </a:solidFill>
                <a:latin typeface="Arial"/>
                <a:ea typeface="Arial"/>
                <a:cs typeface="Arial"/>
                <a:sym typeface="Arial"/>
              </a:rPr>
              <a:t>→</a:t>
            </a:r>
            <a:endParaRPr sz="1100"/>
          </a:p>
        </p:txBody>
      </p:sp>
      <p:sp>
        <p:nvSpPr>
          <p:cNvPr id="259" name="Google Shape;259;p23"/>
          <p:cNvSpPr/>
          <p:nvPr/>
        </p:nvSpPr>
        <p:spPr>
          <a:xfrm>
            <a:off x="514350" y="1985963"/>
            <a:ext cx="371475" cy="371475"/>
          </a:xfrm>
          <a:prstGeom prst="ellipse">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0" name="Google Shape;260;p23"/>
          <p:cNvSpPr/>
          <p:nvPr/>
        </p:nvSpPr>
        <p:spPr>
          <a:xfrm>
            <a:off x="514350"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01</a:t>
            </a:r>
            <a:endParaRPr sz="1100"/>
          </a:p>
        </p:txBody>
      </p:sp>
      <p:sp>
        <p:nvSpPr>
          <p:cNvPr id="261" name="Google Shape;261;p23"/>
          <p:cNvSpPr/>
          <p:nvPr/>
        </p:nvSpPr>
        <p:spPr>
          <a:xfrm>
            <a:off x="514350"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Vendor docs</a:t>
            </a:r>
            <a:endParaRPr sz="1100"/>
          </a:p>
        </p:txBody>
      </p:sp>
      <p:sp>
        <p:nvSpPr>
          <p:cNvPr id="262" name="Google Shape;262;p23"/>
          <p:cNvSpPr/>
          <p:nvPr/>
        </p:nvSpPr>
        <p:spPr>
          <a:xfrm>
            <a:off x="514350"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Define idempotency and billable semantics.</a:t>
            </a:r>
            <a:endParaRPr sz="1100"/>
          </a:p>
        </p:txBody>
      </p:sp>
      <p:sp>
        <p:nvSpPr>
          <p:cNvPr id="263" name="Google Shape;263;p23"/>
          <p:cNvSpPr/>
          <p:nvPr/>
        </p:nvSpPr>
        <p:spPr>
          <a:xfrm>
            <a:off x="514350" y="3543300"/>
            <a:ext cx="1500188"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4" name="Google Shape;264;p23"/>
          <p:cNvSpPr/>
          <p:nvPr/>
        </p:nvSpPr>
        <p:spPr>
          <a:xfrm>
            <a:off x="2357438" y="1985963"/>
            <a:ext cx="371475" cy="371475"/>
          </a:xfrm>
          <a:prstGeom prst="ellipse">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3"/>
          <p:cNvSpPr/>
          <p:nvPr/>
        </p:nvSpPr>
        <p:spPr>
          <a:xfrm>
            <a:off x="2357438"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02</a:t>
            </a:r>
            <a:endParaRPr sz="1100"/>
          </a:p>
        </p:txBody>
      </p:sp>
      <p:sp>
        <p:nvSpPr>
          <p:cNvPr id="266" name="Google Shape;266;p23"/>
          <p:cNvSpPr/>
          <p:nvPr/>
        </p:nvSpPr>
        <p:spPr>
          <a:xfrm>
            <a:off x="2357438"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Incident + RCA</a:t>
            </a:r>
            <a:endParaRPr sz="1100"/>
          </a:p>
        </p:txBody>
      </p:sp>
      <p:sp>
        <p:nvSpPr>
          <p:cNvPr id="267" name="Google Shape;267;p23"/>
          <p:cNvSpPr/>
          <p:nvPr/>
        </p:nvSpPr>
        <p:spPr>
          <a:xfrm>
            <a:off x="2357438"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Explain the duplicate charge and lost response.</a:t>
            </a:r>
            <a:endParaRPr sz="1100"/>
          </a:p>
        </p:txBody>
      </p:sp>
      <p:sp>
        <p:nvSpPr>
          <p:cNvPr id="268" name="Google Shape;268;p23"/>
          <p:cNvSpPr/>
          <p:nvPr/>
        </p:nvSpPr>
        <p:spPr>
          <a:xfrm>
            <a:off x="2357438" y="3543300"/>
            <a:ext cx="1500188"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3"/>
          <p:cNvSpPr/>
          <p:nvPr/>
        </p:nvSpPr>
        <p:spPr>
          <a:xfrm>
            <a:off x="4200525" y="1985963"/>
            <a:ext cx="371475" cy="371475"/>
          </a:xfrm>
          <a:prstGeom prst="ellipse">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3"/>
          <p:cNvSpPr/>
          <p:nvPr/>
        </p:nvSpPr>
        <p:spPr>
          <a:xfrm>
            <a:off x="4200525"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03</a:t>
            </a:r>
            <a:endParaRPr sz="1100"/>
          </a:p>
        </p:txBody>
      </p:sp>
      <p:sp>
        <p:nvSpPr>
          <p:cNvPr id="271" name="Google Shape;271;p23"/>
          <p:cNvSpPr/>
          <p:nvPr/>
        </p:nvSpPr>
        <p:spPr>
          <a:xfrm>
            <a:off x="4200525"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Current runbook</a:t>
            </a:r>
            <a:endParaRPr sz="1100"/>
          </a:p>
        </p:txBody>
      </p:sp>
      <p:sp>
        <p:nvSpPr>
          <p:cNvPr id="272" name="Google Shape;272;p23"/>
          <p:cNvSpPr/>
          <p:nvPr/>
        </p:nvSpPr>
        <p:spPr>
          <a:xfrm>
            <a:off x="4200525"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Assigns reconciliation and operational scope.</a:t>
            </a:r>
            <a:endParaRPr sz="1100"/>
          </a:p>
        </p:txBody>
      </p:sp>
      <p:sp>
        <p:nvSpPr>
          <p:cNvPr id="273" name="Google Shape;273;p23"/>
          <p:cNvSpPr/>
          <p:nvPr/>
        </p:nvSpPr>
        <p:spPr>
          <a:xfrm>
            <a:off x="4200525" y="3543300"/>
            <a:ext cx="1500188"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4" name="Google Shape;274;p23"/>
          <p:cNvSpPr/>
          <p:nvPr/>
        </p:nvSpPr>
        <p:spPr>
          <a:xfrm>
            <a:off x="6043613" y="1985963"/>
            <a:ext cx="371475" cy="371475"/>
          </a:xfrm>
          <a:prstGeom prst="ellipse">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5" name="Google Shape;275;p23"/>
          <p:cNvSpPr/>
          <p:nvPr/>
        </p:nvSpPr>
        <p:spPr>
          <a:xfrm>
            <a:off x="6043613"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04</a:t>
            </a:r>
            <a:endParaRPr sz="1100"/>
          </a:p>
        </p:txBody>
      </p:sp>
      <p:sp>
        <p:nvSpPr>
          <p:cNvPr id="276" name="Google Shape;276;p23"/>
          <p:cNvSpPr/>
          <p:nvPr/>
        </p:nvSpPr>
        <p:spPr>
          <a:xfrm>
            <a:off x="6043613"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Engineer correction</a:t>
            </a:r>
            <a:endParaRPr sz="1100"/>
          </a:p>
        </p:txBody>
      </p:sp>
      <p:sp>
        <p:nvSpPr>
          <p:cNvPr id="277" name="Google Shape;277;p23"/>
          <p:cNvSpPr/>
          <p:nvPr/>
        </p:nvSpPr>
        <p:spPr>
          <a:xfrm>
            <a:off x="6043613"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Makes the stable-key rule explicit.</a:t>
            </a:r>
            <a:endParaRPr sz="1100"/>
          </a:p>
        </p:txBody>
      </p:sp>
      <p:sp>
        <p:nvSpPr>
          <p:cNvPr id="278" name="Google Shape;278;p23"/>
          <p:cNvSpPr/>
          <p:nvPr/>
        </p:nvSpPr>
        <p:spPr>
          <a:xfrm>
            <a:off x="6043613" y="3543300"/>
            <a:ext cx="1500188" cy="14288"/>
          </a:xfrm>
          <a:prstGeom prst="rect">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23"/>
          <p:cNvSpPr/>
          <p:nvPr/>
        </p:nvSpPr>
        <p:spPr>
          <a:xfrm>
            <a:off x="514350" y="3914775"/>
            <a:ext cx="51435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Different sources support different claims; access is not authority.</a:t>
            </a:r>
            <a:endParaRPr sz="1100"/>
          </a:p>
        </p:txBody>
      </p:sp>
      <p:sp>
        <p:nvSpPr>
          <p:cNvPr id="280" name="Google Shape;280;p23"/>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3"/>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282" name="Google Shape;282;p23"/>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07</a:t>
            </a:r>
            <a:endParaRPr sz="1100"/>
          </a:p>
        </p:txBody>
      </p:sp>
      <p:pic>
        <p:nvPicPr>
          <p:cNvPr id="283" name="Google Shape;283;p23"/>
          <p:cNvPicPr preferRelativeResize="0"/>
          <p:nvPr/>
        </p:nvPicPr>
        <p:blipFill rotWithShape="1">
          <a:blip r:embed="rId3">
            <a:alphaModFix/>
          </a:blip>
          <a:srcRect b="0" l="0" r="0" t="0"/>
          <a:stretch/>
        </p:blipFill>
        <p:spPr>
          <a:xfrm>
            <a:off x="7989638" y="3714750"/>
            <a:ext cx="465637" cy="82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288" name="Shape 288"/>
        <p:cNvGrpSpPr/>
        <p:nvPr/>
      </p:nvGrpSpPr>
      <p:grpSpPr>
        <a:xfrm>
          <a:off x="0" y="0"/>
          <a:ext cx="0" cy="0"/>
          <a:chOff x="0" y="0"/>
          <a:chExt cx="0" cy="0"/>
        </a:xfrm>
      </p:grpSpPr>
      <p:sp>
        <p:nvSpPr>
          <p:cNvPr id="289" name="Google Shape;289;p24"/>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CHAPTER 2 · FIGURE 2-1</a:t>
            </a:r>
            <a:endParaRPr sz="1100"/>
          </a:p>
        </p:txBody>
      </p:sp>
      <p:sp>
        <p:nvSpPr>
          <p:cNvPr id="290" name="Google Shape;290;p24"/>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Five layers turn sources into usable evidence.</a:t>
            </a:r>
            <a:endParaRPr sz="1100"/>
          </a:p>
        </p:txBody>
      </p:sp>
      <p:sp>
        <p:nvSpPr>
          <p:cNvPr id="291" name="Google Shape;291;p24"/>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24"/>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4"/>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4" name="Google Shape;294;p24"/>
          <p:cNvSpPr/>
          <p:nvPr/>
        </p:nvSpPr>
        <p:spPr>
          <a:xfrm>
            <a:off x="3714750" y="1700213"/>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ACCESS</a:t>
            </a:r>
            <a:endParaRPr sz="1100"/>
          </a:p>
        </p:txBody>
      </p:sp>
      <p:sp>
        <p:nvSpPr>
          <p:cNvPr id="295" name="Google Shape;295;p24"/>
          <p:cNvSpPr/>
          <p:nvPr/>
        </p:nvSpPr>
        <p:spPr>
          <a:xfrm>
            <a:off x="3714750" y="1928813"/>
            <a:ext cx="3857625" cy="4143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Mapping and connecting make organizational records reachable.</a:t>
            </a:r>
            <a:endParaRPr sz="1100"/>
          </a:p>
        </p:txBody>
      </p:sp>
      <p:sp>
        <p:nvSpPr>
          <p:cNvPr id="296" name="Google Shape;296;p24"/>
          <p:cNvSpPr/>
          <p:nvPr/>
        </p:nvSpPr>
        <p:spPr>
          <a:xfrm>
            <a:off x="3714750" y="2543175"/>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GOVERNANCE</a:t>
            </a:r>
            <a:endParaRPr sz="1100"/>
          </a:p>
        </p:txBody>
      </p:sp>
      <p:sp>
        <p:nvSpPr>
          <p:cNvPr id="297" name="Google Shape;297;p24"/>
          <p:cNvSpPr/>
          <p:nvPr/>
        </p:nvSpPr>
        <p:spPr>
          <a:xfrm>
            <a:off x="3714750" y="2771775"/>
            <a:ext cx="3857625" cy="50006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Normalization and curation attach comparable meaning, scope, and authority.</a:t>
            </a:r>
            <a:endParaRPr sz="1100"/>
          </a:p>
        </p:txBody>
      </p:sp>
      <p:sp>
        <p:nvSpPr>
          <p:cNvPr id="298" name="Google Shape;298;p24"/>
          <p:cNvSpPr/>
          <p:nvPr/>
        </p:nvSpPr>
        <p:spPr>
          <a:xfrm>
            <a:off x="3714750" y="3500438"/>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USE</a:t>
            </a:r>
            <a:endParaRPr sz="1100"/>
          </a:p>
        </p:txBody>
      </p:sp>
      <p:sp>
        <p:nvSpPr>
          <p:cNvPr id="299" name="Google Shape;299;p24"/>
          <p:cNvSpPr/>
          <p:nvPr/>
        </p:nvSpPr>
        <p:spPr>
          <a:xfrm>
            <a:off x="3714750" y="3729038"/>
            <a:ext cx="3857625" cy="4000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Routing selects the evidence that belongs in this task now.</a:t>
            </a:r>
            <a:endParaRPr sz="1100"/>
          </a:p>
        </p:txBody>
      </p:sp>
      <p:sp>
        <p:nvSpPr>
          <p:cNvPr id="300" name="Google Shape;300;p24"/>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1" name="Google Shape;301;p24"/>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302" name="Google Shape;302;p24"/>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08</a:t>
            </a:r>
            <a:endParaRPr sz="1100"/>
          </a:p>
        </p:txBody>
      </p:sp>
      <p:pic>
        <p:nvPicPr>
          <p:cNvPr id="303" name="Google Shape;303;p24"/>
          <p:cNvPicPr preferRelativeResize="0"/>
          <p:nvPr/>
        </p:nvPicPr>
        <p:blipFill rotWithShape="1">
          <a:blip r:embed="rId3">
            <a:alphaModFix/>
          </a:blip>
          <a:srcRect b="0" l="0" r="0" t="0"/>
          <a:stretch/>
        </p:blipFill>
        <p:spPr>
          <a:xfrm>
            <a:off x="517287" y="1514475"/>
            <a:ext cx="2765901" cy="29289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308" name="Shape 308"/>
        <p:cNvGrpSpPr/>
        <p:nvPr/>
      </p:nvGrpSpPr>
      <p:grpSpPr>
        <a:xfrm>
          <a:off x="0" y="0"/>
          <a:ext cx="0" cy="0"/>
          <a:chOff x="0" y="0"/>
          <a:chExt cx="0" cy="0"/>
        </a:xfrm>
      </p:grpSpPr>
      <p:sp>
        <p:nvSpPr>
          <p:cNvPr id="309" name="Google Shape;309;p25"/>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THREE DISTINCT GATES</a:t>
            </a:r>
            <a:endParaRPr sz="1100"/>
          </a:p>
        </p:txBody>
      </p:sp>
      <p:sp>
        <p:nvSpPr>
          <p:cNvPr id="310" name="Google Shape;310;p25"/>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1900"/>
              <a:buFont typeface="Georgia"/>
              <a:buNone/>
            </a:pPr>
            <a:r>
              <a:rPr b="1" i="0" lang="en" sz="1900">
                <a:solidFill>
                  <a:srgbClr val="25251F"/>
                </a:solidFill>
                <a:latin typeface="Georgia"/>
                <a:ea typeface="Georgia"/>
                <a:cs typeface="Georgia"/>
                <a:sym typeface="Georgia"/>
              </a:rPr>
              <a:t>Reachable is not admissible. Admissible is not relevant.</a:t>
            </a:r>
            <a:endParaRPr sz="1100"/>
          </a:p>
        </p:txBody>
      </p:sp>
      <p:sp>
        <p:nvSpPr>
          <p:cNvPr id="311" name="Google Shape;311;p25"/>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25"/>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3" name="Google Shape;313;p25"/>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25"/>
          <p:cNvSpPr/>
          <p:nvPr/>
        </p:nvSpPr>
        <p:spPr>
          <a:xfrm>
            <a:off x="3786188" y="1657350"/>
            <a:ext cx="135731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REACHABLE</a:t>
            </a:r>
            <a:endParaRPr sz="1100"/>
          </a:p>
        </p:txBody>
      </p:sp>
      <p:sp>
        <p:nvSpPr>
          <p:cNvPr id="315" name="Google Shape;315;p25"/>
          <p:cNvSpPr/>
          <p:nvPr/>
        </p:nvSpPr>
        <p:spPr>
          <a:xfrm>
            <a:off x="3786188" y="1885950"/>
            <a:ext cx="3857625" cy="4429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Can the system query this source?</a:t>
            </a:r>
            <a:endParaRPr sz="1100"/>
          </a:p>
        </p:txBody>
      </p:sp>
      <p:sp>
        <p:nvSpPr>
          <p:cNvPr id="316" name="Google Shape;316;p25"/>
          <p:cNvSpPr/>
          <p:nvPr/>
        </p:nvSpPr>
        <p:spPr>
          <a:xfrm>
            <a:off x="3786188" y="2500313"/>
            <a:ext cx="135731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ADMISSIBLE</a:t>
            </a:r>
            <a:endParaRPr sz="1100"/>
          </a:p>
        </p:txBody>
      </p:sp>
      <p:sp>
        <p:nvSpPr>
          <p:cNvPr id="317" name="Google Shape;317;p25"/>
          <p:cNvSpPr/>
          <p:nvPr/>
        </p:nvSpPr>
        <p:spPr>
          <a:xfrm>
            <a:off x="3786188" y="2728913"/>
            <a:ext cx="385762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Does the record satisfy the store’s methodology and authority rules?</a:t>
            </a:r>
            <a:endParaRPr sz="1100"/>
          </a:p>
        </p:txBody>
      </p:sp>
      <p:sp>
        <p:nvSpPr>
          <p:cNvPr id="318" name="Google Shape;318;p25"/>
          <p:cNvSpPr/>
          <p:nvPr/>
        </p:nvSpPr>
        <p:spPr>
          <a:xfrm>
            <a:off x="3786188" y="3471863"/>
            <a:ext cx="135731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RELEVANT</a:t>
            </a:r>
            <a:endParaRPr sz="1100"/>
          </a:p>
        </p:txBody>
      </p:sp>
      <p:sp>
        <p:nvSpPr>
          <p:cNvPr id="319" name="Google Shape;319;p25"/>
          <p:cNvSpPr/>
          <p:nvPr/>
        </p:nvSpPr>
        <p:spPr>
          <a:xfrm>
            <a:off x="3786188" y="3700463"/>
            <a:ext cx="3857625"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Does it belong in this billing decision? A CI retry ticket does not.</a:t>
            </a:r>
            <a:endParaRPr sz="1100"/>
          </a:p>
        </p:txBody>
      </p:sp>
      <p:sp>
        <p:nvSpPr>
          <p:cNvPr id="320" name="Google Shape;320;p25"/>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5"/>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322" name="Google Shape;322;p25"/>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09</a:t>
            </a:r>
            <a:endParaRPr sz="1100"/>
          </a:p>
        </p:txBody>
      </p:sp>
      <p:pic>
        <p:nvPicPr>
          <p:cNvPr id="323" name="Google Shape;323;p25"/>
          <p:cNvPicPr preferRelativeResize="0"/>
          <p:nvPr/>
        </p:nvPicPr>
        <p:blipFill rotWithShape="1">
          <a:blip r:embed="rId3">
            <a:alphaModFix/>
          </a:blip>
          <a:srcRect b="0" l="0" r="0" t="0"/>
          <a:stretch/>
        </p:blipFill>
        <p:spPr>
          <a:xfrm>
            <a:off x="514350" y="1571822"/>
            <a:ext cx="2928938" cy="277138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328" name="Shape 328"/>
        <p:cNvGrpSpPr/>
        <p:nvPr/>
      </p:nvGrpSpPr>
      <p:grpSpPr>
        <a:xfrm>
          <a:off x="0" y="0"/>
          <a:ext cx="0" cy="0"/>
          <a:chOff x="0" y="0"/>
          <a:chExt cx="0" cy="0"/>
        </a:xfrm>
      </p:grpSpPr>
      <p:sp>
        <p:nvSpPr>
          <p:cNvPr id="329" name="Google Shape;329;p26"/>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CORRECTION</a:t>
            </a:r>
            <a:endParaRPr sz="1100"/>
          </a:p>
        </p:txBody>
      </p:sp>
      <p:sp>
        <p:nvSpPr>
          <p:cNvPr id="330" name="Google Shape;330;p26"/>
          <p:cNvSpPr/>
          <p:nvPr/>
        </p:nvSpPr>
        <p:spPr>
          <a:xfrm>
            <a:off x="514350" y="900113"/>
            <a:ext cx="642938" cy="6429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4600"/>
              <a:buFont typeface="Georgia"/>
              <a:buNone/>
            </a:pPr>
            <a:r>
              <a:rPr b="1" i="0" lang="en" sz="4600">
                <a:solidFill>
                  <a:srgbClr val="F1872D"/>
                </a:solidFill>
                <a:latin typeface="Georgia"/>
                <a:ea typeface="Georgia"/>
                <a:cs typeface="Georgia"/>
                <a:sym typeface="Georgia"/>
              </a:rPr>
              <a:t>“</a:t>
            </a:r>
            <a:endParaRPr sz="1100"/>
          </a:p>
        </p:txBody>
      </p:sp>
      <p:sp>
        <p:nvSpPr>
          <p:cNvPr id="331" name="Google Shape;331;p26"/>
          <p:cNvSpPr/>
          <p:nvPr/>
        </p:nvSpPr>
        <p:spPr>
          <a:xfrm>
            <a:off x="1100138" y="1042988"/>
            <a:ext cx="6286500" cy="1285875"/>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25251F"/>
              </a:buClr>
              <a:buSzPts val="1900"/>
              <a:buFont typeface="Georgia"/>
              <a:buNone/>
            </a:pPr>
            <a:r>
              <a:rPr b="1" i="0" lang="en" sz="1900">
                <a:solidFill>
                  <a:srgbClr val="25251F"/>
                </a:solidFill>
                <a:latin typeface="Georgia"/>
                <a:ea typeface="Georgia"/>
                <a:cs typeface="Georgia"/>
                <a:sym typeface="Georgia"/>
              </a:rPr>
              <a:t>Purchase calls must reuse the purchase intent’s idempotency key.</a:t>
            </a:r>
            <a:endParaRPr sz="1100"/>
          </a:p>
        </p:txBody>
      </p:sp>
      <p:sp>
        <p:nvSpPr>
          <p:cNvPr id="332" name="Google Shape;332;p26"/>
          <p:cNvSpPr/>
          <p:nvPr/>
        </p:nvSpPr>
        <p:spPr>
          <a:xfrm>
            <a:off x="1100138" y="2657475"/>
            <a:ext cx="78581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3" name="Google Shape;333;p26"/>
          <p:cNvSpPr/>
          <p:nvPr/>
        </p:nvSpPr>
        <p:spPr>
          <a:xfrm>
            <a:off x="1957388" y="2657475"/>
            <a:ext cx="44291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4" name="Google Shape;334;p26"/>
          <p:cNvSpPr/>
          <p:nvPr/>
        </p:nvSpPr>
        <p:spPr>
          <a:xfrm>
            <a:off x="1100138" y="2957513"/>
            <a:ext cx="2571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900"/>
              <a:buFont typeface="Arial"/>
              <a:buNone/>
            </a:pPr>
            <a:r>
              <a:rPr b="0" i="1" lang="en" sz="900">
                <a:solidFill>
                  <a:srgbClr val="5C5B55"/>
                </a:solidFill>
                <a:latin typeface="Arial"/>
                <a:ea typeface="Arial"/>
                <a:cs typeface="Arial"/>
                <a:sym typeface="Arial"/>
              </a:rPr>
              <a:t>Engineer clarification · checked against vendor semantics and the current runbook</a:t>
            </a:r>
            <a:endParaRPr sz="1100"/>
          </a:p>
        </p:txBody>
      </p:sp>
      <p:sp>
        <p:nvSpPr>
          <p:cNvPr id="335" name="Google Shape;335;p26"/>
          <p:cNvSpPr/>
          <p:nvPr/>
        </p:nvSpPr>
        <p:spPr>
          <a:xfrm>
            <a:off x="1100138" y="3543300"/>
            <a:ext cx="4643438" cy="2714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200"/>
              <a:buFont typeface="Arial"/>
              <a:buNone/>
            </a:pPr>
            <a:r>
              <a:rPr b="1" i="0" lang="en" sz="1200">
                <a:solidFill>
                  <a:srgbClr val="25251F"/>
                </a:solidFill>
                <a:latin typeface="Arial"/>
                <a:ea typeface="Arial"/>
                <a:cs typeface="Arial"/>
                <a:sym typeface="Arial"/>
              </a:rPr>
              <a:t>Useful now. Not automatically entitled to persist.</a:t>
            </a:r>
            <a:endParaRPr sz="1100"/>
          </a:p>
        </p:txBody>
      </p:sp>
      <p:sp>
        <p:nvSpPr>
          <p:cNvPr id="336" name="Google Shape;336;p26"/>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7" name="Google Shape;337;p26"/>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338" name="Google Shape;338;p26"/>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10</a:t>
            </a:r>
            <a:endParaRPr sz="1100"/>
          </a:p>
        </p:txBody>
      </p:sp>
      <p:pic>
        <p:nvPicPr>
          <p:cNvPr id="339" name="Google Shape;339;p26"/>
          <p:cNvPicPr preferRelativeResize="0"/>
          <p:nvPr/>
        </p:nvPicPr>
        <p:blipFill rotWithShape="1">
          <a:blip r:embed="rId3">
            <a:alphaModFix/>
          </a:blip>
          <a:srcRect b="0" l="0" r="0" t="0"/>
          <a:stretch/>
        </p:blipFill>
        <p:spPr>
          <a:xfrm>
            <a:off x="8021207" y="3714750"/>
            <a:ext cx="402499" cy="828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344" name="Shape 344"/>
        <p:cNvGrpSpPr/>
        <p:nvPr/>
      </p:nvGrpSpPr>
      <p:grpSpPr>
        <a:xfrm>
          <a:off x="0" y="0"/>
          <a:ext cx="0" cy="0"/>
          <a:chOff x="0" y="0"/>
          <a:chExt cx="0" cy="0"/>
        </a:xfrm>
      </p:grpSpPr>
      <p:sp>
        <p:nvSpPr>
          <p:cNvPr id="345" name="Google Shape;345;p27"/>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AUDIENCE DECISION</a:t>
            </a:r>
            <a:endParaRPr sz="1100"/>
          </a:p>
        </p:txBody>
      </p:sp>
      <p:sp>
        <p:nvSpPr>
          <p:cNvPr id="346" name="Google Shape;346;p27"/>
          <p:cNvSpPr/>
          <p:nvPr/>
        </p:nvSpPr>
        <p:spPr>
          <a:xfrm>
            <a:off x="514350" y="1071563"/>
            <a:ext cx="7429500" cy="628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2900"/>
              <a:buFont typeface="Georgia"/>
              <a:buNone/>
            </a:pPr>
            <a:r>
              <a:rPr b="1" i="0" lang="en" sz="2900">
                <a:solidFill>
                  <a:srgbClr val="25251F"/>
                </a:solidFill>
                <a:latin typeface="Georgia"/>
                <a:ea typeface="Georgia"/>
                <a:cs typeface="Georgia"/>
                <a:sym typeface="Georgia"/>
              </a:rPr>
              <a:t>Would you save this?</a:t>
            </a:r>
            <a:endParaRPr sz="1100"/>
          </a:p>
        </p:txBody>
      </p:sp>
      <p:sp>
        <p:nvSpPr>
          <p:cNvPr id="347" name="Google Shape;347;p27"/>
          <p:cNvSpPr/>
          <p:nvPr/>
        </p:nvSpPr>
        <p:spPr>
          <a:xfrm>
            <a:off x="514350" y="2000250"/>
            <a:ext cx="900113" cy="5715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8" name="Google Shape;348;p27"/>
          <p:cNvSpPr/>
          <p:nvPr/>
        </p:nvSpPr>
        <p:spPr>
          <a:xfrm>
            <a:off x="1485900" y="2000250"/>
            <a:ext cx="514350" cy="5715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9" name="Google Shape;349;p27"/>
          <p:cNvSpPr/>
          <p:nvPr/>
        </p:nvSpPr>
        <p:spPr>
          <a:xfrm>
            <a:off x="514350" y="3714750"/>
            <a:ext cx="5857875" cy="2857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Useful now ≠ entitled to persist.</a:t>
            </a:r>
            <a:endParaRPr sz="1100"/>
          </a:p>
        </p:txBody>
      </p:sp>
      <p:sp>
        <p:nvSpPr>
          <p:cNvPr id="350" name="Google Shape;350;p27"/>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27"/>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352" name="Google Shape;352;p27"/>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11</a:t>
            </a:r>
            <a:endParaRPr sz="1100"/>
          </a:p>
        </p:txBody>
      </p:sp>
      <p:sp>
        <p:nvSpPr>
          <p:cNvPr id="353" name="Google Shape;353;p27"/>
          <p:cNvSpPr/>
          <p:nvPr/>
        </p:nvSpPr>
        <p:spPr>
          <a:xfrm>
            <a:off x="514350" y="2428875"/>
            <a:ext cx="2428875" cy="1071563"/>
          </a:xfrm>
          <a:prstGeom prst="roundRect">
            <a:avLst>
              <a:gd fmla="val 5333" name="adj"/>
            </a:avLst>
          </a:prstGeom>
          <a:solidFill>
            <a:srgbClr val="FFF1E4"/>
          </a:solidFill>
          <a:ln cap="flat" cmpd="sng" w="14275">
            <a:solidFill>
              <a:srgbClr val="F6872A"/>
            </a:solidFill>
            <a:prstDash val="solid"/>
            <a:round/>
            <a:headEnd len="sm" w="sm" type="none"/>
            <a:tailEnd len="sm" w="sm" type="none"/>
          </a:ln>
        </p:spPr>
        <p:txBody>
          <a:bodyPr anchorCtr="0" anchor="ctr" bIns="100025" lIns="128600" spcFirstLastPara="1" rIns="128600" wrap="square" tIns="100025">
            <a:noAutofit/>
          </a:bodyPr>
          <a:lstStyle/>
          <a:p>
            <a:pPr indent="0" lvl="0" marL="0" marR="0" rtl="0" algn="l">
              <a:spcBef>
                <a:spcPts val="0"/>
              </a:spcBef>
              <a:spcAft>
                <a:spcPts val="0"/>
              </a:spcAft>
              <a:buNone/>
            </a:pPr>
            <a:r>
              <a:rPr b="1" lang="en" sz="900">
                <a:solidFill>
                  <a:srgbClr val="F6872A"/>
                </a:solidFill>
                <a:latin typeface="Arial"/>
                <a:ea typeface="Arial"/>
                <a:cs typeface="Arial"/>
                <a:sym typeface="Arial"/>
              </a:rPr>
              <a:t>01</a:t>
            </a:r>
            <a:endParaRPr sz="1100"/>
          </a:p>
          <a:p>
            <a:pPr indent="0" lvl="0" marL="0" marR="0" rtl="0" algn="l">
              <a:spcBef>
                <a:spcPts val="0"/>
              </a:spcBef>
              <a:spcAft>
                <a:spcPts val="0"/>
              </a:spcAft>
              <a:buNone/>
            </a:pPr>
            <a:r>
              <a:rPr b="1" lang="en" sz="1500">
                <a:solidFill>
                  <a:srgbClr val="262521"/>
                </a:solidFill>
                <a:latin typeface="Arial"/>
                <a:ea typeface="Arial"/>
                <a:cs typeface="Arial"/>
                <a:sym typeface="Arial"/>
              </a:rPr>
              <a:t>USE NOW</a:t>
            </a:r>
            <a:endParaRPr sz="1100"/>
          </a:p>
          <a:p>
            <a:pPr indent="0" lvl="0" marL="0" marR="0" rtl="0" algn="l">
              <a:spcBef>
                <a:spcPts val="0"/>
              </a:spcBef>
              <a:spcAft>
                <a:spcPts val="0"/>
              </a:spcAft>
              <a:buNone/>
            </a:pPr>
            <a:r>
              <a:rPr lang="en" sz="1100">
                <a:solidFill>
                  <a:srgbClr val="5F5B55"/>
                </a:solidFill>
                <a:latin typeface="Arial"/>
                <a:ea typeface="Arial"/>
                <a:cs typeface="Arial"/>
                <a:sym typeface="Arial"/>
              </a:rPr>
              <a:t>Apply to this task.</a:t>
            </a:r>
            <a:endParaRPr sz="1100"/>
          </a:p>
        </p:txBody>
      </p:sp>
      <p:sp>
        <p:nvSpPr>
          <p:cNvPr id="354" name="Google Shape;354;p27"/>
          <p:cNvSpPr/>
          <p:nvPr/>
        </p:nvSpPr>
        <p:spPr>
          <a:xfrm>
            <a:off x="3214688" y="2428875"/>
            <a:ext cx="2428875" cy="1071563"/>
          </a:xfrm>
          <a:prstGeom prst="roundRect">
            <a:avLst>
              <a:gd fmla="val 5333" name="adj"/>
            </a:avLst>
          </a:prstGeom>
          <a:solidFill>
            <a:srgbClr val="EAF8F5"/>
          </a:solidFill>
          <a:ln cap="flat" cmpd="sng" w="14275">
            <a:solidFill>
              <a:srgbClr val="4EB8A5"/>
            </a:solidFill>
            <a:prstDash val="solid"/>
            <a:round/>
            <a:headEnd len="sm" w="sm" type="none"/>
            <a:tailEnd len="sm" w="sm" type="none"/>
          </a:ln>
        </p:spPr>
        <p:txBody>
          <a:bodyPr anchorCtr="0" anchor="ctr" bIns="100025" lIns="128600" spcFirstLastPara="1" rIns="128600" wrap="square" tIns="100025">
            <a:noAutofit/>
          </a:bodyPr>
          <a:lstStyle/>
          <a:p>
            <a:pPr indent="0" lvl="0" marL="0" marR="0" rtl="0" algn="l">
              <a:spcBef>
                <a:spcPts val="0"/>
              </a:spcBef>
              <a:spcAft>
                <a:spcPts val="0"/>
              </a:spcAft>
              <a:buNone/>
            </a:pPr>
            <a:r>
              <a:rPr b="1" lang="en" sz="900">
                <a:solidFill>
                  <a:srgbClr val="4EB8A5"/>
                </a:solidFill>
                <a:latin typeface="Arial"/>
                <a:ea typeface="Arial"/>
                <a:cs typeface="Arial"/>
                <a:sym typeface="Arial"/>
              </a:rPr>
              <a:t>02</a:t>
            </a:r>
            <a:endParaRPr sz="1100"/>
          </a:p>
          <a:p>
            <a:pPr indent="0" lvl="0" marL="0" marR="0" rtl="0" algn="l">
              <a:spcBef>
                <a:spcPts val="0"/>
              </a:spcBef>
              <a:spcAft>
                <a:spcPts val="0"/>
              </a:spcAft>
              <a:buNone/>
            </a:pPr>
            <a:r>
              <a:rPr b="1" lang="en" sz="1500">
                <a:solidFill>
                  <a:srgbClr val="262521"/>
                </a:solidFill>
                <a:latin typeface="Arial"/>
                <a:ea typeface="Arial"/>
                <a:cs typeface="Arial"/>
                <a:sym typeface="Arial"/>
              </a:rPr>
              <a:t>PROPOSE</a:t>
            </a:r>
            <a:endParaRPr sz="1100"/>
          </a:p>
          <a:p>
            <a:pPr indent="0" lvl="0" marL="0" marR="0" rtl="0" algn="l">
              <a:spcBef>
                <a:spcPts val="0"/>
              </a:spcBef>
              <a:spcAft>
                <a:spcPts val="0"/>
              </a:spcAft>
              <a:buNone/>
            </a:pPr>
            <a:r>
              <a:rPr lang="en" sz="1100">
                <a:solidFill>
                  <a:srgbClr val="5F5B55"/>
                </a:solidFill>
                <a:latin typeface="Arial"/>
                <a:ea typeface="Arial"/>
                <a:cs typeface="Arial"/>
                <a:sym typeface="Arial"/>
              </a:rPr>
              <a:t>Open a candidate.</a:t>
            </a:r>
            <a:endParaRPr sz="1100"/>
          </a:p>
        </p:txBody>
      </p:sp>
      <p:sp>
        <p:nvSpPr>
          <p:cNvPr id="355" name="Google Shape;355;p27"/>
          <p:cNvSpPr/>
          <p:nvPr/>
        </p:nvSpPr>
        <p:spPr>
          <a:xfrm>
            <a:off x="5915025" y="2428875"/>
            <a:ext cx="2428875" cy="1071563"/>
          </a:xfrm>
          <a:prstGeom prst="roundRect">
            <a:avLst>
              <a:gd fmla="val 5333" name="adj"/>
            </a:avLst>
          </a:prstGeom>
          <a:solidFill>
            <a:srgbClr val="EEF2FF"/>
          </a:solidFill>
          <a:ln cap="flat" cmpd="sng" w="14275">
            <a:solidFill>
              <a:srgbClr val="4F78E8"/>
            </a:solidFill>
            <a:prstDash val="solid"/>
            <a:round/>
            <a:headEnd len="sm" w="sm" type="none"/>
            <a:tailEnd len="sm" w="sm" type="none"/>
          </a:ln>
        </p:spPr>
        <p:txBody>
          <a:bodyPr anchorCtr="0" anchor="ctr" bIns="100025" lIns="128600" spcFirstLastPara="1" rIns="128600" wrap="square" tIns="100025">
            <a:noAutofit/>
          </a:bodyPr>
          <a:lstStyle/>
          <a:p>
            <a:pPr indent="0" lvl="0" marL="0" marR="0" rtl="0" algn="l">
              <a:spcBef>
                <a:spcPts val="0"/>
              </a:spcBef>
              <a:spcAft>
                <a:spcPts val="0"/>
              </a:spcAft>
              <a:buNone/>
            </a:pPr>
            <a:r>
              <a:rPr b="1" lang="en" sz="900">
                <a:solidFill>
                  <a:srgbClr val="4F78E8"/>
                </a:solidFill>
                <a:latin typeface="Arial"/>
                <a:ea typeface="Arial"/>
                <a:cs typeface="Arial"/>
                <a:sym typeface="Arial"/>
              </a:rPr>
              <a:t>03</a:t>
            </a:r>
            <a:endParaRPr sz="1100"/>
          </a:p>
          <a:p>
            <a:pPr indent="0" lvl="0" marL="0" marR="0" rtl="0" algn="l">
              <a:spcBef>
                <a:spcPts val="0"/>
              </a:spcBef>
              <a:spcAft>
                <a:spcPts val="0"/>
              </a:spcAft>
              <a:buNone/>
            </a:pPr>
            <a:r>
              <a:rPr b="1" lang="en" sz="1500">
                <a:solidFill>
                  <a:srgbClr val="262521"/>
                </a:solidFill>
                <a:latin typeface="Arial"/>
                <a:ea typeface="Arial"/>
                <a:cs typeface="Arial"/>
                <a:sym typeface="Arial"/>
              </a:rPr>
              <a:t>COMMIT</a:t>
            </a:r>
            <a:endParaRPr sz="1100"/>
          </a:p>
          <a:p>
            <a:pPr indent="0" lvl="0" marL="0" marR="0" rtl="0" algn="l">
              <a:spcBef>
                <a:spcPts val="0"/>
              </a:spcBef>
              <a:spcAft>
                <a:spcPts val="0"/>
              </a:spcAft>
              <a:buNone/>
            </a:pPr>
            <a:r>
              <a:rPr lang="en" sz="1100">
                <a:solidFill>
                  <a:srgbClr val="5F5B55"/>
                </a:solidFill>
                <a:latin typeface="Arial"/>
                <a:ea typeface="Arial"/>
                <a:cs typeface="Arial"/>
                <a:sym typeface="Arial"/>
              </a:rPr>
              <a:t>Create durable memory.</a:t>
            </a:r>
            <a:endParaRPr sz="1100"/>
          </a:p>
        </p:txBody>
      </p:sp>
      <p:pic>
        <p:nvPicPr>
          <p:cNvPr id="356" name="Google Shape;356;p27"/>
          <p:cNvPicPr preferRelativeResize="0"/>
          <p:nvPr/>
        </p:nvPicPr>
        <p:blipFill rotWithShape="1">
          <a:blip r:embed="rId3">
            <a:alphaModFix/>
          </a:blip>
          <a:srcRect b="0" l="0" r="0" t="0"/>
          <a:stretch/>
        </p:blipFill>
        <p:spPr>
          <a:xfrm>
            <a:off x="7971881" y="3714750"/>
            <a:ext cx="501151" cy="8286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361" name="Shape 361"/>
        <p:cNvGrpSpPr/>
        <p:nvPr/>
      </p:nvGrpSpPr>
      <p:grpSpPr>
        <a:xfrm>
          <a:off x="0" y="0"/>
          <a:ext cx="0" cy="0"/>
          <a:chOff x="0" y="0"/>
          <a:chExt cx="0" cy="0"/>
        </a:xfrm>
      </p:grpSpPr>
      <p:sp>
        <p:nvSpPr>
          <p:cNvPr id="362" name="Google Shape;362;p28"/>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CHAPTER 1 · TABLE 1-1</a:t>
            </a:r>
            <a:endParaRPr sz="1100"/>
          </a:p>
        </p:txBody>
      </p:sp>
      <p:sp>
        <p:nvSpPr>
          <p:cNvPr id="363" name="Google Shape;363;p28"/>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One encounter creates three candidates.</a:t>
            </a:r>
            <a:endParaRPr sz="1100"/>
          </a:p>
        </p:txBody>
      </p:sp>
      <p:sp>
        <p:nvSpPr>
          <p:cNvPr id="364" name="Google Shape;364;p28"/>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5" name="Google Shape;365;p28"/>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6" name="Google Shape;366;p28"/>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7" name="Google Shape;367;p28"/>
          <p:cNvSpPr/>
          <p:nvPr/>
        </p:nvSpPr>
        <p:spPr>
          <a:xfrm>
            <a:off x="4814888" y="1657350"/>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SEMANTIC</a:t>
            </a:r>
            <a:endParaRPr sz="1100"/>
          </a:p>
        </p:txBody>
      </p:sp>
      <p:sp>
        <p:nvSpPr>
          <p:cNvPr id="368" name="Google Shape;368;p28"/>
          <p:cNvSpPr/>
          <p:nvPr/>
        </p:nvSpPr>
        <p:spPr>
          <a:xfrm>
            <a:off x="4814888" y="1885950"/>
            <a:ext cx="2786063" cy="4286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Stable-key reuse is required.</a:t>
            </a:r>
            <a:endParaRPr sz="1100"/>
          </a:p>
        </p:txBody>
      </p:sp>
      <p:sp>
        <p:nvSpPr>
          <p:cNvPr id="369" name="Google Shape;369;p28"/>
          <p:cNvSpPr/>
          <p:nvPr/>
        </p:nvSpPr>
        <p:spPr>
          <a:xfrm>
            <a:off x="4814888" y="2528888"/>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EPISODIC</a:t>
            </a:r>
            <a:endParaRPr sz="1100"/>
          </a:p>
        </p:txBody>
      </p:sp>
      <p:sp>
        <p:nvSpPr>
          <p:cNvPr id="370" name="Google Shape;370;p28"/>
          <p:cNvSpPr/>
          <p:nvPr/>
        </p:nvSpPr>
        <p:spPr>
          <a:xfrm>
            <a:off x="4814888" y="2757488"/>
            <a:ext cx="2786063" cy="4857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An engineer corrected the retry assumption.</a:t>
            </a:r>
            <a:endParaRPr sz="1100"/>
          </a:p>
        </p:txBody>
      </p:sp>
      <p:sp>
        <p:nvSpPr>
          <p:cNvPr id="371" name="Google Shape;371;p28"/>
          <p:cNvSpPr/>
          <p:nvPr/>
        </p:nvSpPr>
        <p:spPr>
          <a:xfrm>
            <a:off x="4814888" y="3471863"/>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PROCEDURAL</a:t>
            </a:r>
            <a:endParaRPr sz="1100"/>
          </a:p>
        </p:txBody>
      </p:sp>
      <p:sp>
        <p:nvSpPr>
          <p:cNvPr id="372" name="Google Shape;372;p28"/>
          <p:cNvSpPr/>
          <p:nvPr/>
        </p:nvSpPr>
        <p:spPr>
          <a:xfrm>
            <a:off x="4814888" y="3700463"/>
            <a:ext cx="2786063" cy="5143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Reconcile an ambiguous purchase before retrying.</a:t>
            </a:r>
            <a:endParaRPr sz="1100"/>
          </a:p>
        </p:txBody>
      </p:sp>
      <p:sp>
        <p:nvSpPr>
          <p:cNvPr id="373" name="Google Shape;373;p28"/>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28"/>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375" name="Google Shape;375;p28"/>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12</a:t>
            </a:r>
            <a:endParaRPr sz="1100"/>
          </a:p>
        </p:txBody>
      </p:sp>
      <p:pic>
        <p:nvPicPr>
          <p:cNvPr id="376" name="Google Shape;376;p28"/>
          <p:cNvPicPr preferRelativeResize="0"/>
          <p:nvPr/>
        </p:nvPicPr>
        <p:blipFill rotWithShape="1">
          <a:blip r:embed="rId3">
            <a:alphaModFix/>
          </a:blip>
          <a:srcRect b="0" l="0" r="0" t="0"/>
          <a:stretch/>
        </p:blipFill>
        <p:spPr>
          <a:xfrm>
            <a:off x="517629" y="1600200"/>
            <a:ext cx="3993942" cy="29003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381" name="Shape 381"/>
        <p:cNvGrpSpPr/>
        <p:nvPr/>
      </p:nvGrpSpPr>
      <p:grpSpPr>
        <a:xfrm>
          <a:off x="0" y="0"/>
          <a:ext cx="0" cy="0"/>
          <a:chOff x="0" y="0"/>
          <a:chExt cx="0" cy="0"/>
        </a:xfrm>
      </p:grpSpPr>
      <p:sp>
        <p:nvSpPr>
          <p:cNvPr id="382" name="Google Shape;382;p29"/>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WRITE PATH</a:t>
            </a:r>
            <a:endParaRPr sz="1100"/>
          </a:p>
        </p:txBody>
      </p:sp>
      <p:sp>
        <p:nvSpPr>
          <p:cNvPr id="383" name="Google Shape;383;p29"/>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A saved memory is a forecast.</a:t>
            </a:r>
            <a:endParaRPr sz="1100"/>
          </a:p>
        </p:txBody>
      </p:sp>
      <p:sp>
        <p:nvSpPr>
          <p:cNvPr id="384" name="Google Shape;384;p29"/>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5" name="Google Shape;385;p29"/>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6" name="Google Shape;386;p29"/>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29"/>
          <p:cNvSpPr/>
          <p:nvPr/>
        </p:nvSpPr>
        <p:spPr>
          <a:xfrm>
            <a:off x="514350" y="1543050"/>
            <a:ext cx="7358062" cy="4857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100"/>
              <a:buFont typeface="Arial"/>
              <a:buNone/>
            </a:pPr>
            <a:r>
              <a:rPr b="0" i="0" lang="en" sz="1100">
                <a:solidFill>
                  <a:srgbClr val="5C5B55"/>
                </a:solidFill>
                <a:latin typeface="Arial"/>
                <a:ea typeface="Arial"/>
                <a:cs typeface="Arial"/>
                <a:sym typeface="Arial"/>
              </a:rPr>
              <a:t>Durable memory begins only when a future-use claim survives an explicit decision.</a:t>
            </a:r>
            <a:endParaRPr sz="1100"/>
          </a:p>
        </p:txBody>
      </p:sp>
      <p:sp>
        <p:nvSpPr>
          <p:cNvPr id="388" name="Google Shape;388;p29"/>
          <p:cNvSpPr/>
          <p:nvPr/>
        </p:nvSpPr>
        <p:spPr>
          <a:xfrm>
            <a:off x="514350" y="2443163"/>
            <a:ext cx="314325" cy="314325"/>
          </a:xfrm>
          <a:prstGeom prst="roundRect">
            <a:avLst>
              <a:gd fmla="val 18182"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9" name="Google Shape;389;p29"/>
          <p:cNvSpPr/>
          <p:nvPr/>
        </p:nvSpPr>
        <p:spPr>
          <a:xfrm>
            <a:off x="514350"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01</a:t>
            </a:r>
            <a:endParaRPr sz="1100"/>
          </a:p>
        </p:txBody>
      </p:sp>
      <p:sp>
        <p:nvSpPr>
          <p:cNvPr id="390" name="Google Shape;390;p29"/>
          <p:cNvSpPr/>
          <p:nvPr/>
        </p:nvSpPr>
        <p:spPr>
          <a:xfrm>
            <a:off x="957263"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MemoryCandidate</a:t>
            </a:r>
            <a:endParaRPr sz="1100"/>
          </a:p>
        </p:txBody>
      </p:sp>
      <p:sp>
        <p:nvSpPr>
          <p:cNvPr id="391" name="Google Shape;391;p29"/>
          <p:cNvSpPr/>
          <p:nvPr/>
        </p:nvSpPr>
        <p:spPr>
          <a:xfrm>
            <a:off x="957263"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Proposed content + future job</a:t>
            </a:r>
            <a:endParaRPr sz="1100"/>
          </a:p>
        </p:txBody>
      </p:sp>
      <p:sp>
        <p:nvSpPr>
          <p:cNvPr id="392" name="Google Shape;392;p29"/>
          <p:cNvSpPr/>
          <p:nvPr/>
        </p:nvSpPr>
        <p:spPr>
          <a:xfrm>
            <a:off x="2614613" y="2514600"/>
            <a:ext cx="300038" cy="2571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EB9A5"/>
              </a:buClr>
              <a:buSzPts val="1500"/>
              <a:buFont typeface="Arial"/>
              <a:buNone/>
            </a:pPr>
            <a:r>
              <a:rPr b="1" i="0" lang="en" sz="1500">
                <a:solidFill>
                  <a:srgbClr val="4EB9A5"/>
                </a:solidFill>
                <a:latin typeface="Arial"/>
                <a:ea typeface="Arial"/>
                <a:cs typeface="Arial"/>
                <a:sym typeface="Arial"/>
              </a:rPr>
              <a:t>→</a:t>
            </a:r>
            <a:endParaRPr sz="1100"/>
          </a:p>
        </p:txBody>
      </p:sp>
      <p:sp>
        <p:nvSpPr>
          <p:cNvPr id="393" name="Google Shape;393;p29"/>
          <p:cNvSpPr/>
          <p:nvPr/>
        </p:nvSpPr>
        <p:spPr>
          <a:xfrm>
            <a:off x="3071813" y="2443163"/>
            <a:ext cx="314325" cy="314325"/>
          </a:xfrm>
          <a:prstGeom prst="roundRect">
            <a:avLst>
              <a:gd fmla="val 18182"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4" name="Google Shape;394;p29"/>
          <p:cNvSpPr/>
          <p:nvPr/>
        </p:nvSpPr>
        <p:spPr>
          <a:xfrm>
            <a:off x="3071813"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02</a:t>
            </a:r>
            <a:endParaRPr sz="1100"/>
          </a:p>
        </p:txBody>
      </p:sp>
      <p:sp>
        <p:nvSpPr>
          <p:cNvPr id="395" name="Google Shape;395;p29"/>
          <p:cNvSpPr/>
          <p:nvPr/>
        </p:nvSpPr>
        <p:spPr>
          <a:xfrm>
            <a:off x="3514725"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RetentionDecision</a:t>
            </a:r>
            <a:endParaRPr sz="1100"/>
          </a:p>
        </p:txBody>
      </p:sp>
      <p:sp>
        <p:nvSpPr>
          <p:cNvPr id="396" name="Google Shape;396;p29"/>
          <p:cNvSpPr/>
          <p:nvPr/>
        </p:nvSpPr>
        <p:spPr>
          <a:xfrm>
            <a:off x="3514725"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Policy + authority decide</a:t>
            </a:r>
            <a:endParaRPr sz="1100"/>
          </a:p>
        </p:txBody>
      </p:sp>
      <p:sp>
        <p:nvSpPr>
          <p:cNvPr id="397" name="Google Shape;397;p29"/>
          <p:cNvSpPr/>
          <p:nvPr/>
        </p:nvSpPr>
        <p:spPr>
          <a:xfrm>
            <a:off x="5172075" y="2514600"/>
            <a:ext cx="300038" cy="2571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F78ED"/>
              </a:buClr>
              <a:buSzPts val="1500"/>
              <a:buFont typeface="Arial"/>
              <a:buNone/>
            </a:pPr>
            <a:r>
              <a:rPr b="1" i="0" lang="en" sz="1500">
                <a:solidFill>
                  <a:srgbClr val="4F78ED"/>
                </a:solidFill>
                <a:latin typeface="Arial"/>
                <a:ea typeface="Arial"/>
                <a:cs typeface="Arial"/>
                <a:sym typeface="Arial"/>
              </a:rPr>
              <a:t>→</a:t>
            </a:r>
            <a:endParaRPr sz="1100"/>
          </a:p>
        </p:txBody>
      </p:sp>
      <p:sp>
        <p:nvSpPr>
          <p:cNvPr id="398" name="Google Shape;398;p29"/>
          <p:cNvSpPr/>
          <p:nvPr/>
        </p:nvSpPr>
        <p:spPr>
          <a:xfrm>
            <a:off x="5629275" y="2443163"/>
            <a:ext cx="314325" cy="314325"/>
          </a:xfrm>
          <a:prstGeom prst="roundRect">
            <a:avLst>
              <a:gd fmla="val 18182"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9" name="Google Shape;399;p29"/>
          <p:cNvSpPr/>
          <p:nvPr/>
        </p:nvSpPr>
        <p:spPr>
          <a:xfrm>
            <a:off x="5629275"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03</a:t>
            </a:r>
            <a:endParaRPr sz="1100"/>
          </a:p>
        </p:txBody>
      </p:sp>
      <p:sp>
        <p:nvSpPr>
          <p:cNvPr id="400" name="Google Shape;400;p29"/>
          <p:cNvSpPr/>
          <p:nvPr/>
        </p:nvSpPr>
        <p:spPr>
          <a:xfrm>
            <a:off x="6072188"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ManagedMemory</a:t>
            </a:r>
            <a:endParaRPr sz="1100"/>
          </a:p>
        </p:txBody>
      </p:sp>
      <p:sp>
        <p:nvSpPr>
          <p:cNvPr id="401" name="Google Shape;401;p29"/>
          <p:cNvSpPr/>
          <p:nvPr/>
        </p:nvSpPr>
        <p:spPr>
          <a:xfrm>
            <a:off x="6072188"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Owned, versioned, revisable</a:t>
            </a:r>
            <a:endParaRPr sz="1100"/>
          </a:p>
        </p:txBody>
      </p:sp>
      <p:sp>
        <p:nvSpPr>
          <p:cNvPr id="402" name="Google Shape;402;p29"/>
          <p:cNvSpPr/>
          <p:nvPr/>
        </p:nvSpPr>
        <p:spPr>
          <a:xfrm>
            <a:off x="957263" y="3014663"/>
            <a:ext cx="15716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What future job?</a:t>
            </a:r>
            <a:endParaRPr sz="1100"/>
          </a:p>
        </p:txBody>
      </p:sp>
      <p:sp>
        <p:nvSpPr>
          <p:cNvPr id="403" name="Google Shape;403;p29"/>
          <p:cNvSpPr/>
          <p:nvPr/>
        </p:nvSpPr>
        <p:spPr>
          <a:xfrm>
            <a:off x="3514725" y="3014663"/>
            <a:ext cx="164306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Should policy commit?</a:t>
            </a:r>
            <a:endParaRPr sz="1100"/>
          </a:p>
        </p:txBody>
      </p:sp>
      <p:sp>
        <p:nvSpPr>
          <p:cNvPr id="404" name="Google Shape;404;p29"/>
          <p:cNvSpPr/>
          <p:nvPr/>
        </p:nvSpPr>
        <p:spPr>
          <a:xfrm>
            <a:off x="6072188" y="3014663"/>
            <a:ext cx="164306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Who will maintain it?</a:t>
            </a:r>
            <a:endParaRPr sz="1100"/>
          </a:p>
        </p:txBody>
      </p:sp>
      <p:sp>
        <p:nvSpPr>
          <p:cNvPr id="405" name="Google Shape;405;p29"/>
          <p:cNvSpPr/>
          <p:nvPr/>
        </p:nvSpPr>
        <p:spPr>
          <a:xfrm>
            <a:off x="514350" y="3671888"/>
            <a:ext cx="57150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Candidates remain inactive until the decision materializes them.</a:t>
            </a:r>
            <a:endParaRPr sz="1100"/>
          </a:p>
        </p:txBody>
      </p:sp>
      <p:sp>
        <p:nvSpPr>
          <p:cNvPr id="406" name="Google Shape;406;p29"/>
          <p:cNvSpPr/>
          <p:nvPr/>
        </p:nvSpPr>
        <p:spPr>
          <a:xfrm>
            <a:off x="514350" y="3986213"/>
            <a:ext cx="1657350"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29"/>
          <p:cNvSpPr/>
          <p:nvPr/>
        </p:nvSpPr>
        <p:spPr>
          <a:xfrm>
            <a:off x="2243138" y="3986213"/>
            <a:ext cx="771525"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29"/>
          <p:cNvSpPr/>
          <p:nvPr/>
        </p:nvSpPr>
        <p:spPr>
          <a:xfrm>
            <a:off x="3086100" y="3986213"/>
            <a:ext cx="414338"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9" name="Google Shape;409;p29"/>
          <p:cNvSpPr/>
          <p:nvPr/>
        </p:nvSpPr>
        <p:spPr>
          <a:xfrm>
            <a:off x="514350" y="4114800"/>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PROPOSE   ·   DECIDE   ·   OWN</a:t>
            </a:r>
            <a:endParaRPr sz="1100"/>
          </a:p>
        </p:txBody>
      </p:sp>
      <p:sp>
        <p:nvSpPr>
          <p:cNvPr id="410" name="Google Shape;410;p29"/>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1" name="Google Shape;411;p29"/>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412" name="Google Shape;412;p29"/>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13</a:t>
            </a:r>
            <a:endParaRPr sz="1100"/>
          </a:p>
        </p:txBody>
      </p:sp>
      <p:pic>
        <p:nvPicPr>
          <p:cNvPr id="413" name="Google Shape;413;p29"/>
          <p:cNvPicPr preferRelativeResize="0"/>
          <p:nvPr/>
        </p:nvPicPr>
        <p:blipFill rotWithShape="1">
          <a:blip r:embed="rId3">
            <a:alphaModFix/>
          </a:blip>
          <a:srcRect b="0" l="0" r="0" t="0"/>
          <a:stretch/>
        </p:blipFill>
        <p:spPr>
          <a:xfrm>
            <a:off x="8000639" y="3714750"/>
            <a:ext cx="443634" cy="828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418" name="Shape 418"/>
        <p:cNvGrpSpPr/>
        <p:nvPr/>
      </p:nvGrpSpPr>
      <p:grpSpPr>
        <a:xfrm>
          <a:off x="0" y="0"/>
          <a:ext cx="0" cy="0"/>
          <a:chOff x="0" y="0"/>
          <a:chExt cx="0" cy="0"/>
        </a:xfrm>
      </p:grpSpPr>
      <p:sp>
        <p:nvSpPr>
          <p:cNvPr id="419" name="Google Shape;419;p30"/>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CHAPTER 3 · PROPOSED FIGURE 3-1</a:t>
            </a:r>
            <a:endParaRPr sz="1100"/>
          </a:p>
        </p:txBody>
      </p:sp>
      <p:sp>
        <p:nvSpPr>
          <p:cNvPr id="420" name="Google Shape;420;p30"/>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Selection starts a lifecycle.</a:t>
            </a:r>
            <a:endParaRPr sz="1100"/>
          </a:p>
        </p:txBody>
      </p:sp>
      <p:sp>
        <p:nvSpPr>
          <p:cNvPr id="421" name="Google Shape;421;p30"/>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2" name="Google Shape;422;p30"/>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p30"/>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30"/>
          <p:cNvSpPr/>
          <p:nvPr/>
        </p:nvSpPr>
        <p:spPr>
          <a:xfrm>
            <a:off x="514350" y="4171950"/>
            <a:ext cx="6786563"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World, store, and future work keep reopening the commitment.</a:t>
            </a:r>
            <a:endParaRPr sz="1100"/>
          </a:p>
        </p:txBody>
      </p:sp>
      <p:sp>
        <p:nvSpPr>
          <p:cNvPr id="425" name="Google Shape;425;p30"/>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6" name="Google Shape;426;p30"/>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427" name="Google Shape;427;p30"/>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14</a:t>
            </a:r>
            <a:endParaRPr sz="1100"/>
          </a:p>
        </p:txBody>
      </p:sp>
      <p:pic>
        <p:nvPicPr>
          <p:cNvPr id="428" name="Google Shape;428;p30"/>
          <p:cNvPicPr preferRelativeResize="0"/>
          <p:nvPr/>
        </p:nvPicPr>
        <p:blipFill rotWithShape="1">
          <a:blip r:embed="rId3">
            <a:alphaModFix/>
          </a:blip>
          <a:srcRect b="0" l="0" r="0" t="0"/>
          <a:stretch/>
        </p:blipFill>
        <p:spPr>
          <a:xfrm>
            <a:off x="514350" y="1575031"/>
            <a:ext cx="7143750" cy="242206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433" name="Shape 433"/>
        <p:cNvGrpSpPr/>
        <p:nvPr/>
      </p:nvGrpSpPr>
      <p:grpSpPr>
        <a:xfrm>
          <a:off x="0" y="0"/>
          <a:ext cx="0" cy="0"/>
          <a:chOff x="0" y="0"/>
          <a:chExt cx="0" cy="0"/>
        </a:xfrm>
      </p:grpSpPr>
      <p:sp>
        <p:nvSpPr>
          <p:cNvPr id="434" name="Google Shape;434;p31"/>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ONE EVENT · THREE ACTIONS</a:t>
            </a:r>
            <a:endParaRPr sz="1100"/>
          </a:p>
        </p:txBody>
      </p:sp>
      <p:sp>
        <p:nvSpPr>
          <p:cNvPr id="435" name="Google Shape;435;p31"/>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Then the runbook changes.</a:t>
            </a:r>
            <a:endParaRPr sz="1100"/>
          </a:p>
        </p:txBody>
      </p:sp>
      <p:sp>
        <p:nvSpPr>
          <p:cNvPr id="436" name="Google Shape;436;p31"/>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7" name="Google Shape;437;p31"/>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8" name="Google Shape;438;p31"/>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31"/>
          <p:cNvSpPr/>
          <p:nvPr/>
        </p:nvSpPr>
        <p:spPr>
          <a:xfrm>
            <a:off x="514350"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900"/>
              <a:buFont typeface="Georgia"/>
              <a:buNone/>
            </a:pPr>
            <a:r>
              <a:rPr b="1" i="0" lang="en" sz="1900">
                <a:solidFill>
                  <a:srgbClr val="F1872D"/>
                </a:solidFill>
                <a:latin typeface="Georgia"/>
                <a:ea typeface="Georgia"/>
                <a:cs typeface="Georgia"/>
                <a:sym typeface="Georgia"/>
              </a:rPr>
              <a:t>01</a:t>
            </a:r>
            <a:endParaRPr sz="1100"/>
          </a:p>
        </p:txBody>
      </p:sp>
      <p:sp>
        <p:nvSpPr>
          <p:cNvPr id="440" name="Google Shape;440;p31"/>
          <p:cNvSpPr/>
          <p:nvPr/>
        </p:nvSpPr>
        <p:spPr>
          <a:xfrm>
            <a:off x="514350" y="2343150"/>
            <a:ext cx="1785937"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CONSOLIDATE</a:t>
            </a:r>
            <a:endParaRPr sz="1100"/>
          </a:p>
        </p:txBody>
      </p:sp>
      <p:sp>
        <p:nvSpPr>
          <p:cNvPr id="441" name="Google Shape;441;p31"/>
          <p:cNvSpPr/>
          <p:nvPr/>
        </p:nvSpPr>
        <p:spPr>
          <a:xfrm>
            <a:off x="514350"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Semantic fact</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The new source corroborates the stable-key rule.</a:t>
            </a:r>
            <a:endParaRPr sz="1100"/>
          </a:p>
        </p:txBody>
      </p:sp>
      <p:sp>
        <p:nvSpPr>
          <p:cNvPr id="442" name="Google Shape;442;p31"/>
          <p:cNvSpPr/>
          <p:nvPr/>
        </p:nvSpPr>
        <p:spPr>
          <a:xfrm>
            <a:off x="514350" y="3371850"/>
            <a:ext cx="2043113"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31"/>
          <p:cNvSpPr/>
          <p:nvPr/>
        </p:nvSpPr>
        <p:spPr>
          <a:xfrm>
            <a:off x="2900363"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900"/>
              <a:buFont typeface="Georgia"/>
              <a:buNone/>
            </a:pPr>
            <a:r>
              <a:rPr b="1" i="0" lang="en" sz="1900">
                <a:solidFill>
                  <a:srgbClr val="4EB9A5"/>
                </a:solidFill>
                <a:latin typeface="Georgia"/>
                <a:ea typeface="Georgia"/>
                <a:cs typeface="Georgia"/>
                <a:sym typeface="Georgia"/>
              </a:rPr>
              <a:t>02</a:t>
            </a:r>
            <a:endParaRPr sz="1100"/>
          </a:p>
        </p:txBody>
      </p:sp>
      <p:sp>
        <p:nvSpPr>
          <p:cNvPr id="444" name="Google Shape;444;p31"/>
          <p:cNvSpPr/>
          <p:nvPr/>
        </p:nvSpPr>
        <p:spPr>
          <a:xfrm>
            <a:off x="2900363" y="2343150"/>
            <a:ext cx="178593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DEMOTE</a:t>
            </a:r>
            <a:endParaRPr sz="1100"/>
          </a:p>
        </p:txBody>
      </p:sp>
      <p:sp>
        <p:nvSpPr>
          <p:cNvPr id="445" name="Google Shape;445;p31"/>
          <p:cNvSpPr/>
          <p:nvPr/>
        </p:nvSpPr>
        <p:spPr>
          <a:xfrm>
            <a:off x="2900363"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Correction episode</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History stays true; independent retrieval value falls.</a:t>
            </a:r>
            <a:endParaRPr sz="1100"/>
          </a:p>
        </p:txBody>
      </p:sp>
      <p:sp>
        <p:nvSpPr>
          <p:cNvPr id="446" name="Google Shape;446;p31"/>
          <p:cNvSpPr/>
          <p:nvPr/>
        </p:nvSpPr>
        <p:spPr>
          <a:xfrm>
            <a:off x="2900363" y="3371850"/>
            <a:ext cx="2043113"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31"/>
          <p:cNvSpPr/>
          <p:nvPr/>
        </p:nvSpPr>
        <p:spPr>
          <a:xfrm>
            <a:off x="5286375"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1900"/>
              <a:buFont typeface="Georgia"/>
              <a:buNone/>
            </a:pPr>
            <a:r>
              <a:rPr b="1" i="0" lang="en" sz="1900">
                <a:solidFill>
                  <a:srgbClr val="4F78ED"/>
                </a:solidFill>
                <a:latin typeface="Georgia"/>
                <a:ea typeface="Georgia"/>
                <a:cs typeface="Georgia"/>
                <a:sym typeface="Georgia"/>
              </a:rPr>
              <a:t>03</a:t>
            </a:r>
            <a:endParaRPr sz="1100"/>
          </a:p>
        </p:txBody>
      </p:sp>
      <p:sp>
        <p:nvSpPr>
          <p:cNvPr id="448" name="Google Shape;448;p31"/>
          <p:cNvSpPr/>
          <p:nvPr/>
        </p:nvSpPr>
        <p:spPr>
          <a:xfrm>
            <a:off x="5286375" y="2343150"/>
            <a:ext cx="178593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SUPERSEDE</a:t>
            </a:r>
            <a:endParaRPr sz="1100"/>
          </a:p>
        </p:txBody>
      </p:sp>
      <p:sp>
        <p:nvSpPr>
          <p:cNvPr id="449" name="Google Shape;449;p31"/>
          <p:cNvSpPr/>
          <p:nvPr/>
        </p:nvSpPr>
        <p:spPr>
          <a:xfrm>
            <a:off x="5286375"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Old procedure</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A replacement now governs current action.</a:t>
            </a:r>
            <a:endParaRPr sz="1100"/>
          </a:p>
        </p:txBody>
      </p:sp>
      <p:sp>
        <p:nvSpPr>
          <p:cNvPr id="450" name="Google Shape;450;p31"/>
          <p:cNvSpPr/>
          <p:nvPr/>
        </p:nvSpPr>
        <p:spPr>
          <a:xfrm>
            <a:off x="5286375" y="3371850"/>
            <a:ext cx="2043113"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1" name="Google Shape;451;p31"/>
          <p:cNvSpPr/>
          <p:nvPr/>
        </p:nvSpPr>
        <p:spPr>
          <a:xfrm>
            <a:off x="514350" y="3800475"/>
            <a:ext cx="60721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Same event. Different lifecycle actions.</a:t>
            </a:r>
            <a:endParaRPr sz="1100"/>
          </a:p>
        </p:txBody>
      </p:sp>
      <p:sp>
        <p:nvSpPr>
          <p:cNvPr id="452" name="Google Shape;452;p31"/>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3" name="Google Shape;453;p31"/>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454" name="Google Shape;454;p31"/>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15</a:t>
            </a:r>
            <a:endParaRPr sz="1100"/>
          </a:p>
        </p:txBody>
      </p:sp>
      <p:pic>
        <p:nvPicPr>
          <p:cNvPr id="455" name="Google Shape;455;p31"/>
          <p:cNvPicPr preferRelativeResize="0"/>
          <p:nvPr/>
        </p:nvPicPr>
        <p:blipFill rotWithShape="1">
          <a:blip r:embed="rId3">
            <a:alphaModFix/>
          </a:blip>
          <a:srcRect b="0" l="0" r="0" t="0"/>
          <a:stretch/>
        </p:blipFill>
        <p:spPr>
          <a:xfrm>
            <a:off x="7894174" y="3714750"/>
            <a:ext cx="656566" cy="8286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460" name="Shape 460"/>
        <p:cNvGrpSpPr/>
        <p:nvPr/>
      </p:nvGrpSpPr>
      <p:grpSpPr>
        <a:xfrm>
          <a:off x="0" y="0"/>
          <a:ext cx="0" cy="0"/>
          <a:chOff x="0" y="0"/>
          <a:chExt cx="0" cy="0"/>
        </a:xfrm>
      </p:grpSpPr>
      <p:sp>
        <p:nvSpPr>
          <p:cNvPr id="461" name="Google Shape;461;p32"/>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TIME AS EVIDENCE</a:t>
            </a:r>
            <a:endParaRPr sz="1100"/>
          </a:p>
        </p:txBody>
      </p:sp>
      <p:sp>
        <p:nvSpPr>
          <p:cNvPr id="462" name="Google Shape;462;p32"/>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A retention horizon reopens the decision.</a:t>
            </a:r>
            <a:endParaRPr sz="1100"/>
          </a:p>
        </p:txBody>
      </p:sp>
      <p:sp>
        <p:nvSpPr>
          <p:cNvPr id="463" name="Google Shape;463;p32"/>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4" name="Google Shape;464;p32"/>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5" name="Google Shape;465;p32"/>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6" name="Google Shape;466;p32"/>
          <p:cNvSpPr/>
          <p:nvPr/>
        </p:nvSpPr>
        <p:spPr>
          <a:xfrm>
            <a:off x="514350"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TTL</a:t>
            </a:r>
            <a:endParaRPr sz="1100"/>
          </a:p>
        </p:txBody>
      </p:sp>
      <p:sp>
        <p:nvSpPr>
          <p:cNvPr id="467" name="Google Shape;467;p32"/>
          <p:cNvSpPr/>
          <p:nvPr/>
        </p:nvSpPr>
        <p:spPr>
          <a:xfrm>
            <a:off x="514350" y="2028825"/>
            <a:ext cx="214312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Storage clock.</a:t>
            </a:r>
            <a:endParaRPr sz="1100"/>
          </a:p>
        </p:txBody>
      </p:sp>
      <p:sp>
        <p:nvSpPr>
          <p:cNvPr id="468" name="Google Shape;468;p32"/>
          <p:cNvSpPr/>
          <p:nvPr/>
        </p:nvSpPr>
        <p:spPr>
          <a:xfrm>
            <a:off x="514350"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700"/>
              <a:buFont typeface="Georgia"/>
              <a:buNone/>
            </a:pPr>
            <a:r>
              <a:rPr b="1" i="0" lang="en" sz="1700">
                <a:solidFill>
                  <a:srgbClr val="F1872D"/>
                </a:solidFill>
                <a:latin typeface="Georgia"/>
                <a:ea typeface="Georgia"/>
                <a:cs typeface="Georgia"/>
                <a:sym typeface="Georgia"/>
              </a:rPr>
              <a:t>Expire after time.</a:t>
            </a:r>
            <a:endParaRPr sz="1100"/>
          </a:p>
        </p:txBody>
      </p:sp>
      <p:sp>
        <p:nvSpPr>
          <p:cNvPr id="469" name="Google Shape;469;p32"/>
          <p:cNvSpPr/>
          <p:nvPr/>
        </p:nvSpPr>
        <p:spPr>
          <a:xfrm>
            <a:off x="514350"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Controls payload lifetime</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Can remove without reconsideration</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Useful for storage hygiene</a:t>
            </a:r>
            <a:endParaRPr sz="1100"/>
          </a:p>
        </p:txBody>
      </p:sp>
      <p:sp>
        <p:nvSpPr>
          <p:cNvPr id="470" name="Google Shape;470;p32"/>
          <p:cNvSpPr/>
          <p:nvPr/>
        </p:nvSpPr>
        <p:spPr>
          <a:xfrm>
            <a:off x="3914775" y="2457450"/>
            <a:ext cx="628650" cy="400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18B82"/>
              </a:buClr>
              <a:buSzPts val="2500"/>
              <a:buFont typeface="Arial"/>
              <a:buNone/>
            </a:pPr>
            <a:r>
              <a:rPr b="0" i="0" lang="en" sz="2500">
                <a:solidFill>
                  <a:srgbClr val="918B82"/>
                </a:solidFill>
                <a:latin typeface="Arial"/>
                <a:ea typeface="Arial"/>
                <a:cs typeface="Arial"/>
                <a:sym typeface="Arial"/>
              </a:rPr>
              <a:t>→</a:t>
            </a:r>
            <a:endParaRPr sz="1100"/>
          </a:p>
        </p:txBody>
      </p:sp>
      <p:sp>
        <p:nvSpPr>
          <p:cNvPr id="471" name="Google Shape;471;p32"/>
          <p:cNvSpPr/>
          <p:nvPr/>
        </p:nvSpPr>
        <p:spPr>
          <a:xfrm>
            <a:off x="4929188"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RETENTION HORIZON</a:t>
            </a:r>
            <a:endParaRPr sz="1100"/>
          </a:p>
        </p:txBody>
      </p:sp>
      <p:sp>
        <p:nvSpPr>
          <p:cNvPr id="472" name="Google Shape;472;p32"/>
          <p:cNvSpPr/>
          <p:nvPr/>
        </p:nvSpPr>
        <p:spPr>
          <a:xfrm>
            <a:off x="4929188" y="2028825"/>
            <a:ext cx="24288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Decision trigger.</a:t>
            </a:r>
            <a:endParaRPr sz="1100"/>
          </a:p>
        </p:txBody>
      </p:sp>
      <p:sp>
        <p:nvSpPr>
          <p:cNvPr id="473" name="Google Shape;473;p32"/>
          <p:cNvSpPr/>
          <p:nvPr/>
        </p:nvSpPr>
        <p:spPr>
          <a:xfrm>
            <a:off x="4929188"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700"/>
              <a:buFont typeface="Georgia"/>
              <a:buNone/>
            </a:pPr>
            <a:r>
              <a:rPr b="1" i="0" lang="en" sz="1700">
                <a:solidFill>
                  <a:srgbClr val="4EB9A5"/>
                </a:solidFill>
                <a:latin typeface="Georgia"/>
                <a:ea typeface="Georgia"/>
                <a:cs typeface="Georgia"/>
                <a:sym typeface="Georgia"/>
              </a:rPr>
              <a:t>Reopen the commitment.</a:t>
            </a:r>
            <a:endParaRPr sz="1100"/>
          </a:p>
        </p:txBody>
      </p:sp>
      <p:sp>
        <p:nvSpPr>
          <p:cNvPr id="474" name="Google Shape;474;p32"/>
          <p:cNvSpPr/>
          <p:nvPr/>
        </p:nvSpPr>
        <p:spPr>
          <a:xfrm>
            <a:off x="4929188"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Governing source changes</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Contradiction or redundancy</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Use-and-cost evidence</a:t>
            </a:r>
            <a:endParaRPr sz="1100"/>
          </a:p>
        </p:txBody>
      </p:sp>
      <p:sp>
        <p:nvSpPr>
          <p:cNvPr id="475" name="Google Shape;475;p32"/>
          <p:cNvSpPr/>
          <p:nvPr/>
        </p:nvSpPr>
        <p:spPr>
          <a:xfrm>
            <a:off x="514350" y="3914775"/>
            <a:ext cx="6986588" cy="14288"/>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6" name="Google Shape;476;p32"/>
          <p:cNvSpPr/>
          <p:nvPr/>
        </p:nvSpPr>
        <p:spPr>
          <a:xfrm>
            <a:off x="514350" y="4057650"/>
            <a:ext cx="642937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One manages duration. The other schedules judgment.</a:t>
            </a:r>
            <a:endParaRPr sz="1100"/>
          </a:p>
        </p:txBody>
      </p:sp>
      <p:sp>
        <p:nvSpPr>
          <p:cNvPr id="477" name="Google Shape;477;p32"/>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78" name="Google Shape;478;p32"/>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479" name="Google Shape;479;p32"/>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16</a:t>
            </a:r>
            <a:endParaRPr sz="1100"/>
          </a:p>
        </p:txBody>
      </p:sp>
      <p:pic>
        <p:nvPicPr>
          <p:cNvPr id="480" name="Google Shape;480;p32"/>
          <p:cNvPicPr preferRelativeResize="0"/>
          <p:nvPr/>
        </p:nvPicPr>
        <p:blipFill rotWithShape="1">
          <a:blip r:embed="rId3">
            <a:alphaModFix/>
          </a:blip>
          <a:srcRect b="0" l="0" r="0" t="0"/>
          <a:stretch/>
        </p:blipFill>
        <p:spPr>
          <a:xfrm>
            <a:off x="8011342" y="3714750"/>
            <a:ext cx="422230" cy="8286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485" name="Shape 485"/>
        <p:cNvGrpSpPr/>
        <p:nvPr/>
      </p:nvGrpSpPr>
      <p:grpSpPr>
        <a:xfrm>
          <a:off x="0" y="0"/>
          <a:ext cx="0" cy="0"/>
          <a:chOff x="0" y="0"/>
          <a:chExt cx="0" cy="0"/>
        </a:xfrm>
      </p:grpSpPr>
      <p:sp>
        <p:nvSpPr>
          <p:cNvPr id="486" name="Google Shape;486;p33"/>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 CONDITIONAL DECISION</a:t>
            </a:r>
            <a:endParaRPr sz="1100"/>
          </a:p>
        </p:txBody>
      </p:sp>
      <p:sp>
        <p:nvSpPr>
          <p:cNvPr id="487" name="Google Shape;487;p33"/>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Choose the action—not a memory score.</a:t>
            </a:r>
            <a:endParaRPr sz="1100"/>
          </a:p>
        </p:txBody>
      </p:sp>
      <p:sp>
        <p:nvSpPr>
          <p:cNvPr id="488" name="Google Shape;488;p33"/>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9" name="Google Shape;489;p33"/>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0" name="Google Shape;490;p33"/>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1" name="Google Shape;491;p33"/>
          <p:cNvSpPr/>
          <p:nvPr/>
        </p:nvSpPr>
        <p:spPr>
          <a:xfrm>
            <a:off x="514350"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900"/>
              <a:buFont typeface="Georgia"/>
              <a:buNone/>
            </a:pPr>
            <a:r>
              <a:rPr b="1" i="0" lang="en" sz="1900">
                <a:solidFill>
                  <a:srgbClr val="F1872D"/>
                </a:solidFill>
                <a:latin typeface="Georgia"/>
                <a:ea typeface="Georgia"/>
                <a:cs typeface="Georgia"/>
                <a:sym typeface="Georgia"/>
              </a:rPr>
              <a:t>01</a:t>
            </a:r>
            <a:endParaRPr sz="1100"/>
          </a:p>
        </p:txBody>
      </p:sp>
      <p:sp>
        <p:nvSpPr>
          <p:cNvPr id="492" name="Google Shape;492;p33"/>
          <p:cNvSpPr/>
          <p:nvPr/>
        </p:nvSpPr>
        <p:spPr>
          <a:xfrm>
            <a:off x="514350" y="2343150"/>
            <a:ext cx="1785937"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CONSTRAINTS</a:t>
            </a:r>
            <a:endParaRPr sz="1100"/>
          </a:p>
        </p:txBody>
      </p:sp>
      <p:sp>
        <p:nvSpPr>
          <p:cNvPr id="493" name="Google Shape;493;p33"/>
          <p:cNvSpPr/>
          <p:nvPr/>
        </p:nvSpPr>
        <p:spPr>
          <a:xfrm>
            <a:off x="514350"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Is this action allowed?</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Authority · validity · obligations</a:t>
            </a:r>
            <a:endParaRPr sz="1100"/>
          </a:p>
        </p:txBody>
      </p:sp>
      <p:sp>
        <p:nvSpPr>
          <p:cNvPr id="494" name="Google Shape;494;p33"/>
          <p:cNvSpPr/>
          <p:nvPr/>
        </p:nvSpPr>
        <p:spPr>
          <a:xfrm>
            <a:off x="514350" y="3371850"/>
            <a:ext cx="2043113"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5" name="Google Shape;495;p33"/>
          <p:cNvSpPr/>
          <p:nvPr/>
        </p:nvSpPr>
        <p:spPr>
          <a:xfrm>
            <a:off x="2900363"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900"/>
              <a:buFont typeface="Georgia"/>
              <a:buNone/>
            </a:pPr>
            <a:r>
              <a:rPr b="1" i="0" lang="en" sz="1900">
                <a:solidFill>
                  <a:srgbClr val="4EB9A5"/>
                </a:solidFill>
                <a:latin typeface="Georgia"/>
                <a:ea typeface="Georgia"/>
                <a:cs typeface="Georgia"/>
                <a:sym typeface="Georgia"/>
              </a:rPr>
              <a:t>02</a:t>
            </a:r>
            <a:endParaRPr sz="1100"/>
          </a:p>
        </p:txBody>
      </p:sp>
      <p:sp>
        <p:nvSpPr>
          <p:cNvPr id="496" name="Google Shape;496;p33"/>
          <p:cNvSpPr/>
          <p:nvPr/>
        </p:nvSpPr>
        <p:spPr>
          <a:xfrm>
            <a:off x="2900363" y="2343150"/>
            <a:ext cx="178593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CURRENT EVIDENCE</a:t>
            </a:r>
            <a:endParaRPr sz="1100"/>
          </a:p>
        </p:txBody>
      </p:sp>
      <p:sp>
        <p:nvSpPr>
          <p:cNvPr id="497" name="Google Shape;497;p33"/>
          <p:cNvSpPr/>
          <p:nvPr/>
        </p:nvSpPr>
        <p:spPr>
          <a:xfrm>
            <a:off x="2900363"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What changed?</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World · store · future work</a:t>
            </a:r>
            <a:endParaRPr sz="1100"/>
          </a:p>
        </p:txBody>
      </p:sp>
      <p:sp>
        <p:nvSpPr>
          <p:cNvPr id="498" name="Google Shape;498;p33"/>
          <p:cNvSpPr/>
          <p:nvPr/>
        </p:nvSpPr>
        <p:spPr>
          <a:xfrm>
            <a:off x="2900363" y="3371850"/>
            <a:ext cx="2043113"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99" name="Google Shape;499;p33"/>
          <p:cNvSpPr/>
          <p:nvPr/>
        </p:nvSpPr>
        <p:spPr>
          <a:xfrm>
            <a:off x="5286375" y="1843088"/>
            <a:ext cx="514350" cy="3143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1900"/>
              <a:buFont typeface="Georgia"/>
              <a:buNone/>
            </a:pPr>
            <a:r>
              <a:rPr b="1" i="0" lang="en" sz="1900">
                <a:solidFill>
                  <a:srgbClr val="4F78ED"/>
                </a:solidFill>
                <a:latin typeface="Georgia"/>
                <a:ea typeface="Georgia"/>
                <a:cs typeface="Georgia"/>
                <a:sym typeface="Georgia"/>
              </a:rPr>
              <a:t>03</a:t>
            </a:r>
            <a:endParaRPr sz="1100"/>
          </a:p>
        </p:txBody>
      </p:sp>
      <p:sp>
        <p:nvSpPr>
          <p:cNvPr id="500" name="Google Shape;500;p33"/>
          <p:cNvSpPr/>
          <p:nvPr/>
        </p:nvSpPr>
        <p:spPr>
          <a:xfrm>
            <a:off x="5286375" y="2343150"/>
            <a:ext cx="178593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SMALLEST ACTION</a:t>
            </a:r>
            <a:endParaRPr sz="1100"/>
          </a:p>
        </p:txBody>
      </p:sp>
      <p:sp>
        <p:nvSpPr>
          <p:cNvPr id="501" name="Google Shape;501;p33"/>
          <p:cNvSpPr/>
          <p:nvPr/>
        </p:nvSpPr>
        <p:spPr>
          <a:xfrm>
            <a:off x="5286375" y="2643188"/>
            <a:ext cx="1857375" cy="51435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Smallest justified change.</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Demote · consolidate</a:t>
            </a:r>
            <a:endParaRPr sz="1100"/>
          </a:p>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Supersede · delete</a:t>
            </a:r>
            <a:endParaRPr sz="1100"/>
          </a:p>
        </p:txBody>
      </p:sp>
      <p:sp>
        <p:nvSpPr>
          <p:cNvPr id="502" name="Google Shape;502;p33"/>
          <p:cNvSpPr/>
          <p:nvPr/>
        </p:nvSpPr>
        <p:spPr>
          <a:xfrm>
            <a:off x="5286375" y="3371850"/>
            <a:ext cx="2043113"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3" name="Google Shape;503;p33"/>
          <p:cNvSpPr/>
          <p:nvPr/>
        </p:nvSpPr>
        <p:spPr>
          <a:xfrm>
            <a:off x="514350" y="3800475"/>
            <a:ext cx="6072188" cy="242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Signals rank options inside the constraints; they do not replace them.</a:t>
            </a:r>
            <a:endParaRPr sz="1100"/>
          </a:p>
        </p:txBody>
      </p:sp>
      <p:sp>
        <p:nvSpPr>
          <p:cNvPr id="504" name="Google Shape;504;p33"/>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05" name="Google Shape;505;p33"/>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506" name="Google Shape;506;p33"/>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17</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511" name="Shape 511"/>
        <p:cNvGrpSpPr/>
        <p:nvPr/>
      </p:nvGrpSpPr>
      <p:grpSpPr>
        <a:xfrm>
          <a:off x="0" y="0"/>
          <a:ext cx="0" cy="0"/>
          <a:chOff x="0" y="0"/>
          <a:chExt cx="0" cy="0"/>
        </a:xfrm>
      </p:grpSpPr>
      <p:sp>
        <p:nvSpPr>
          <p:cNvPr id="512" name="Google Shape;512;p34"/>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REVISED RUNBOOK</a:t>
            </a:r>
            <a:endParaRPr sz="1100"/>
          </a:p>
        </p:txBody>
      </p:sp>
      <p:sp>
        <p:nvSpPr>
          <p:cNvPr id="513" name="Google Shape;513;p34"/>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Forgetting is not deletion.</a:t>
            </a:r>
            <a:endParaRPr sz="1100"/>
          </a:p>
        </p:txBody>
      </p:sp>
      <p:sp>
        <p:nvSpPr>
          <p:cNvPr id="514" name="Google Shape;514;p34"/>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5" name="Google Shape;515;p34"/>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6" name="Google Shape;516;p34"/>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17" name="Google Shape;517;p34"/>
          <p:cNvSpPr/>
          <p:nvPr/>
        </p:nvSpPr>
        <p:spPr>
          <a:xfrm>
            <a:off x="514350" y="1757363"/>
            <a:ext cx="18002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MEMORY</a:t>
            </a:r>
            <a:endParaRPr sz="1100"/>
          </a:p>
        </p:txBody>
      </p:sp>
      <p:sp>
        <p:nvSpPr>
          <p:cNvPr id="518" name="Google Shape;518;p34"/>
          <p:cNvSpPr/>
          <p:nvPr/>
        </p:nvSpPr>
        <p:spPr>
          <a:xfrm>
            <a:off x="2443163" y="1757363"/>
            <a:ext cx="18002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ACTION</a:t>
            </a:r>
            <a:endParaRPr sz="1100"/>
          </a:p>
        </p:txBody>
      </p:sp>
      <p:sp>
        <p:nvSpPr>
          <p:cNvPr id="519" name="Google Shape;519;p34"/>
          <p:cNvSpPr/>
          <p:nvPr/>
        </p:nvSpPr>
        <p:spPr>
          <a:xfrm>
            <a:off x="4371975" y="1757363"/>
            <a:ext cx="16859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WHAT CHANGES</a:t>
            </a:r>
            <a:endParaRPr sz="1100"/>
          </a:p>
        </p:txBody>
      </p:sp>
      <p:sp>
        <p:nvSpPr>
          <p:cNvPr id="520" name="Google Shape;520;p34"/>
          <p:cNvSpPr/>
          <p:nvPr/>
        </p:nvSpPr>
        <p:spPr>
          <a:xfrm>
            <a:off x="6186488" y="1757363"/>
            <a:ext cx="14001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WHAT REMAINS</a:t>
            </a:r>
            <a:endParaRPr sz="1100"/>
          </a:p>
        </p:txBody>
      </p:sp>
      <p:sp>
        <p:nvSpPr>
          <p:cNvPr id="521" name="Google Shape;521;p34"/>
          <p:cNvSpPr/>
          <p:nvPr/>
        </p:nvSpPr>
        <p:spPr>
          <a:xfrm>
            <a:off x="514350" y="1985963"/>
            <a:ext cx="7200900" cy="14288"/>
          </a:xfrm>
          <a:prstGeom prst="rect">
            <a:avLst/>
          </a:prstGeom>
          <a:solidFill>
            <a:srgbClr val="25251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2" name="Google Shape;522;p34"/>
          <p:cNvSpPr/>
          <p:nvPr/>
        </p:nvSpPr>
        <p:spPr>
          <a:xfrm>
            <a:off x="514350" y="2143125"/>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Semantic fact</a:t>
            </a:r>
            <a:endParaRPr sz="1100"/>
          </a:p>
        </p:txBody>
      </p:sp>
      <p:sp>
        <p:nvSpPr>
          <p:cNvPr id="523" name="Google Shape;523;p34"/>
          <p:cNvSpPr/>
          <p:nvPr/>
        </p:nvSpPr>
        <p:spPr>
          <a:xfrm>
            <a:off x="2443163" y="2143125"/>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Consolidate</a:t>
            </a:r>
            <a:endParaRPr sz="1100"/>
          </a:p>
        </p:txBody>
      </p:sp>
      <p:sp>
        <p:nvSpPr>
          <p:cNvPr id="524" name="Google Shape;524;p34"/>
          <p:cNvSpPr/>
          <p:nvPr/>
        </p:nvSpPr>
        <p:spPr>
          <a:xfrm>
            <a:off x="4371975" y="2143125"/>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Independent retrieval</a:t>
            </a:r>
            <a:endParaRPr sz="1100"/>
          </a:p>
        </p:txBody>
      </p:sp>
      <p:sp>
        <p:nvSpPr>
          <p:cNvPr id="525" name="Google Shape;525;p34"/>
          <p:cNvSpPr/>
          <p:nvPr/>
        </p:nvSpPr>
        <p:spPr>
          <a:xfrm>
            <a:off x="6186488" y="2143125"/>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900"/>
              <a:buFont typeface="Arial"/>
              <a:buNone/>
            </a:pPr>
            <a:r>
              <a:rPr b="1" i="0" lang="en" sz="900">
                <a:solidFill>
                  <a:srgbClr val="4EB9A5"/>
                </a:solidFill>
                <a:latin typeface="Arial"/>
                <a:ea typeface="Arial"/>
                <a:cs typeface="Arial"/>
                <a:sym typeface="Arial"/>
              </a:rPr>
              <a:t>Source-linked claim</a:t>
            </a:r>
            <a:endParaRPr sz="1100"/>
          </a:p>
        </p:txBody>
      </p:sp>
      <p:sp>
        <p:nvSpPr>
          <p:cNvPr id="526" name="Google Shape;526;p34"/>
          <p:cNvSpPr/>
          <p:nvPr/>
        </p:nvSpPr>
        <p:spPr>
          <a:xfrm>
            <a:off x="514350" y="2471738"/>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27" name="Google Shape;527;p34"/>
          <p:cNvSpPr/>
          <p:nvPr/>
        </p:nvSpPr>
        <p:spPr>
          <a:xfrm>
            <a:off x="514350" y="2614613"/>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Correction episode</a:t>
            </a:r>
            <a:endParaRPr sz="1100"/>
          </a:p>
        </p:txBody>
      </p:sp>
      <p:sp>
        <p:nvSpPr>
          <p:cNvPr id="528" name="Google Shape;528;p34"/>
          <p:cNvSpPr/>
          <p:nvPr/>
        </p:nvSpPr>
        <p:spPr>
          <a:xfrm>
            <a:off x="2443163" y="2614613"/>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Demote</a:t>
            </a:r>
            <a:endParaRPr sz="1100"/>
          </a:p>
        </p:txBody>
      </p:sp>
      <p:sp>
        <p:nvSpPr>
          <p:cNvPr id="529" name="Google Shape;529;p34"/>
          <p:cNvSpPr/>
          <p:nvPr/>
        </p:nvSpPr>
        <p:spPr>
          <a:xfrm>
            <a:off x="4371975" y="2614613"/>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Ranking priority</a:t>
            </a:r>
            <a:endParaRPr sz="1100"/>
          </a:p>
        </p:txBody>
      </p:sp>
      <p:sp>
        <p:nvSpPr>
          <p:cNvPr id="530" name="Google Shape;530;p34"/>
          <p:cNvSpPr/>
          <p:nvPr/>
        </p:nvSpPr>
        <p:spPr>
          <a:xfrm>
            <a:off x="6186488" y="2614613"/>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5B94C"/>
              </a:buClr>
              <a:buSzPts val="900"/>
              <a:buFont typeface="Arial"/>
              <a:buNone/>
            </a:pPr>
            <a:r>
              <a:rPr b="1" i="0" lang="en" sz="900">
                <a:solidFill>
                  <a:srgbClr val="E5B94C"/>
                </a:solidFill>
                <a:latin typeface="Arial"/>
                <a:ea typeface="Arial"/>
                <a:cs typeface="Arial"/>
                <a:sym typeface="Arial"/>
              </a:rPr>
              <a:t>History + provenance</a:t>
            </a:r>
            <a:endParaRPr sz="1100"/>
          </a:p>
        </p:txBody>
      </p:sp>
      <p:sp>
        <p:nvSpPr>
          <p:cNvPr id="531" name="Google Shape;531;p34"/>
          <p:cNvSpPr/>
          <p:nvPr/>
        </p:nvSpPr>
        <p:spPr>
          <a:xfrm>
            <a:off x="514350" y="2943225"/>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2" name="Google Shape;532;p34"/>
          <p:cNvSpPr/>
          <p:nvPr/>
        </p:nvSpPr>
        <p:spPr>
          <a:xfrm>
            <a:off x="514350" y="3086100"/>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Old procedure</a:t>
            </a:r>
            <a:endParaRPr sz="1100"/>
          </a:p>
        </p:txBody>
      </p:sp>
      <p:sp>
        <p:nvSpPr>
          <p:cNvPr id="533" name="Google Shape;533;p34"/>
          <p:cNvSpPr/>
          <p:nvPr/>
        </p:nvSpPr>
        <p:spPr>
          <a:xfrm>
            <a:off x="2443163" y="3086100"/>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Supersede</a:t>
            </a:r>
            <a:endParaRPr sz="1100"/>
          </a:p>
        </p:txBody>
      </p:sp>
      <p:sp>
        <p:nvSpPr>
          <p:cNvPr id="534" name="Google Shape;534;p34"/>
          <p:cNvSpPr/>
          <p:nvPr/>
        </p:nvSpPr>
        <p:spPr>
          <a:xfrm>
            <a:off x="4371975" y="3086100"/>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Active authority</a:t>
            </a:r>
            <a:endParaRPr sz="1100"/>
          </a:p>
        </p:txBody>
      </p:sp>
      <p:sp>
        <p:nvSpPr>
          <p:cNvPr id="535" name="Google Shape;535;p34"/>
          <p:cNvSpPr/>
          <p:nvPr/>
        </p:nvSpPr>
        <p:spPr>
          <a:xfrm>
            <a:off x="6186488" y="3086100"/>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900"/>
              <a:buFont typeface="Arial"/>
              <a:buNone/>
            </a:pPr>
            <a:r>
              <a:rPr b="1" i="0" lang="en" sz="900">
                <a:solidFill>
                  <a:srgbClr val="F1872D"/>
                </a:solidFill>
                <a:latin typeface="Arial"/>
                <a:ea typeface="Arial"/>
                <a:cs typeface="Arial"/>
                <a:sym typeface="Arial"/>
              </a:rPr>
              <a:t>Replacement link</a:t>
            </a:r>
            <a:endParaRPr sz="1100"/>
          </a:p>
        </p:txBody>
      </p:sp>
      <p:sp>
        <p:nvSpPr>
          <p:cNvPr id="536" name="Google Shape;536;p34"/>
          <p:cNvSpPr/>
          <p:nvPr/>
        </p:nvSpPr>
        <p:spPr>
          <a:xfrm>
            <a:off x="514350" y="3414713"/>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7" name="Google Shape;537;p34"/>
          <p:cNvSpPr/>
          <p:nvPr/>
        </p:nvSpPr>
        <p:spPr>
          <a:xfrm>
            <a:off x="514350" y="3557588"/>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Deletion</a:t>
            </a:r>
            <a:endParaRPr sz="1100"/>
          </a:p>
        </p:txBody>
      </p:sp>
      <p:sp>
        <p:nvSpPr>
          <p:cNvPr id="538" name="Google Shape;538;p34"/>
          <p:cNvSpPr/>
          <p:nvPr/>
        </p:nvSpPr>
        <p:spPr>
          <a:xfrm>
            <a:off x="2443163" y="3557588"/>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Not used</a:t>
            </a:r>
            <a:endParaRPr sz="1100"/>
          </a:p>
        </p:txBody>
      </p:sp>
      <p:sp>
        <p:nvSpPr>
          <p:cNvPr id="539" name="Google Shape;539;p34"/>
          <p:cNvSpPr/>
          <p:nvPr/>
        </p:nvSpPr>
        <p:spPr>
          <a:xfrm>
            <a:off x="4371975" y="3557588"/>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a:t>
            </a:r>
            <a:endParaRPr sz="1100"/>
          </a:p>
        </p:txBody>
      </p:sp>
      <p:sp>
        <p:nvSpPr>
          <p:cNvPr id="540" name="Google Shape;540;p34"/>
          <p:cNvSpPr/>
          <p:nvPr/>
        </p:nvSpPr>
        <p:spPr>
          <a:xfrm>
            <a:off x="6186488" y="3557588"/>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900"/>
              <a:buFont typeface="Arial"/>
              <a:buNone/>
            </a:pPr>
            <a:r>
              <a:rPr b="1" i="0" lang="en" sz="900">
                <a:solidFill>
                  <a:srgbClr val="4F78ED"/>
                </a:solidFill>
                <a:latin typeface="Arial"/>
                <a:ea typeface="Arial"/>
                <a:cs typeface="Arial"/>
                <a:sym typeface="Arial"/>
              </a:rPr>
              <a:t>No universal expiry</a:t>
            </a:r>
            <a:endParaRPr sz="1100"/>
          </a:p>
        </p:txBody>
      </p:sp>
      <p:sp>
        <p:nvSpPr>
          <p:cNvPr id="541" name="Google Shape;541;p34"/>
          <p:cNvSpPr/>
          <p:nvPr/>
        </p:nvSpPr>
        <p:spPr>
          <a:xfrm>
            <a:off x="514350" y="3886200"/>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2" name="Google Shape;542;p34"/>
          <p:cNvSpPr/>
          <p:nvPr/>
        </p:nvSpPr>
        <p:spPr>
          <a:xfrm>
            <a:off x="514350" y="4214813"/>
            <a:ext cx="607218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Remove the smallest property the decision requires.</a:t>
            </a:r>
            <a:endParaRPr sz="1100"/>
          </a:p>
        </p:txBody>
      </p:sp>
      <p:sp>
        <p:nvSpPr>
          <p:cNvPr id="543" name="Google Shape;543;p34"/>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4" name="Google Shape;544;p34"/>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545" name="Google Shape;545;p34"/>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18</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550" name="Shape 550"/>
        <p:cNvGrpSpPr/>
        <p:nvPr/>
      </p:nvGrpSpPr>
      <p:grpSpPr>
        <a:xfrm>
          <a:off x="0" y="0"/>
          <a:ext cx="0" cy="0"/>
          <a:chOff x="0" y="0"/>
          <a:chExt cx="0" cy="0"/>
        </a:xfrm>
      </p:grpSpPr>
      <p:sp>
        <p:nvSpPr>
          <p:cNvPr id="551" name="Google Shape;551;p35"/>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COMPRESSION AS REPLACEMENT</a:t>
            </a:r>
            <a:endParaRPr sz="1100"/>
          </a:p>
        </p:txBody>
      </p:sp>
      <p:sp>
        <p:nvSpPr>
          <p:cNvPr id="552" name="Google Shape;552;p35"/>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Compression preserves the future job.</a:t>
            </a:r>
            <a:endParaRPr sz="1100"/>
          </a:p>
        </p:txBody>
      </p:sp>
      <p:sp>
        <p:nvSpPr>
          <p:cNvPr id="553" name="Google Shape;553;p35"/>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4" name="Google Shape;554;p35"/>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5" name="Google Shape;555;p35"/>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56" name="Google Shape;556;p35"/>
          <p:cNvSpPr/>
          <p:nvPr/>
        </p:nvSpPr>
        <p:spPr>
          <a:xfrm>
            <a:off x="514350"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UNSAFE ROLLUP v0</a:t>
            </a:r>
            <a:endParaRPr sz="1100"/>
          </a:p>
        </p:txBody>
      </p:sp>
      <p:sp>
        <p:nvSpPr>
          <p:cNvPr id="557" name="Google Shape;557;p35"/>
          <p:cNvSpPr/>
          <p:nvPr/>
        </p:nvSpPr>
        <p:spPr>
          <a:xfrm>
            <a:off x="514350" y="2028825"/>
            <a:ext cx="214312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Shorter text.</a:t>
            </a:r>
            <a:endParaRPr sz="1100"/>
          </a:p>
        </p:txBody>
      </p:sp>
      <p:sp>
        <p:nvSpPr>
          <p:cNvPr id="558" name="Google Shape;558;p35"/>
          <p:cNvSpPr/>
          <p:nvPr/>
        </p:nvSpPr>
        <p:spPr>
          <a:xfrm>
            <a:off x="514350"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1700"/>
              <a:buFont typeface="Georgia"/>
              <a:buNone/>
            </a:pPr>
            <a:r>
              <a:rPr b="1" i="0" lang="en" sz="1700">
                <a:solidFill>
                  <a:srgbClr val="F1872D"/>
                </a:solidFill>
                <a:latin typeface="Georgia"/>
                <a:ea typeface="Georgia"/>
                <a:cs typeface="Georgia"/>
                <a:sym typeface="Georgia"/>
              </a:rPr>
              <a:t>Fails validation.</a:t>
            </a:r>
            <a:endParaRPr sz="1100"/>
          </a:p>
        </p:txBody>
      </p:sp>
      <p:sp>
        <p:nvSpPr>
          <p:cNvPr id="559" name="Google Shape;559;p35"/>
          <p:cNvSpPr/>
          <p:nvPr/>
        </p:nvSpPr>
        <p:spPr>
          <a:xfrm>
            <a:off x="514350"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Drops the EU exception</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Blurs authority</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Breaks claim-to-source lineage</a:t>
            </a:r>
            <a:endParaRPr sz="1100"/>
          </a:p>
        </p:txBody>
      </p:sp>
      <p:sp>
        <p:nvSpPr>
          <p:cNvPr id="560" name="Google Shape;560;p35"/>
          <p:cNvSpPr/>
          <p:nvPr/>
        </p:nvSpPr>
        <p:spPr>
          <a:xfrm>
            <a:off x="3914775" y="2457450"/>
            <a:ext cx="628650" cy="40005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18B82"/>
              </a:buClr>
              <a:buSzPts val="2500"/>
              <a:buFont typeface="Arial"/>
              <a:buNone/>
            </a:pPr>
            <a:r>
              <a:rPr b="0" i="0" lang="en" sz="2500">
                <a:solidFill>
                  <a:srgbClr val="918B82"/>
                </a:solidFill>
                <a:latin typeface="Arial"/>
                <a:ea typeface="Arial"/>
                <a:cs typeface="Arial"/>
                <a:sym typeface="Arial"/>
              </a:rPr>
              <a:t>→</a:t>
            </a:r>
            <a:endParaRPr sz="1100"/>
          </a:p>
        </p:txBody>
      </p:sp>
      <p:sp>
        <p:nvSpPr>
          <p:cNvPr id="561" name="Google Shape;561;p35"/>
          <p:cNvSpPr/>
          <p:nvPr/>
        </p:nvSpPr>
        <p:spPr>
          <a:xfrm>
            <a:off x="4929188" y="1700213"/>
            <a:ext cx="3071813"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VALIDATED REPLACEMENT v2</a:t>
            </a:r>
            <a:endParaRPr sz="1100"/>
          </a:p>
        </p:txBody>
      </p:sp>
      <p:sp>
        <p:nvSpPr>
          <p:cNvPr id="562" name="Google Shape;562;p35"/>
          <p:cNvSpPr/>
          <p:nvPr/>
        </p:nvSpPr>
        <p:spPr>
          <a:xfrm>
            <a:off x="4929188" y="2028825"/>
            <a:ext cx="2428875"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700"/>
              <a:buFont typeface="Georgia"/>
              <a:buNone/>
            </a:pPr>
            <a:r>
              <a:rPr b="1" i="0" lang="en" sz="1700">
                <a:solidFill>
                  <a:srgbClr val="25251F"/>
                </a:solidFill>
                <a:latin typeface="Georgia"/>
                <a:ea typeface="Georgia"/>
                <a:cs typeface="Georgia"/>
                <a:sym typeface="Georgia"/>
              </a:rPr>
              <a:t>Future-use contract.</a:t>
            </a:r>
            <a:endParaRPr sz="1100"/>
          </a:p>
        </p:txBody>
      </p:sp>
      <p:sp>
        <p:nvSpPr>
          <p:cNvPr id="563" name="Google Shape;563;p35"/>
          <p:cNvSpPr/>
          <p:nvPr/>
        </p:nvSpPr>
        <p:spPr>
          <a:xfrm>
            <a:off x="4929188" y="2343150"/>
            <a:ext cx="2571750" cy="3000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1700"/>
              <a:buFont typeface="Georgia"/>
              <a:buNone/>
            </a:pPr>
            <a:r>
              <a:rPr b="1" i="0" lang="en" sz="1700">
                <a:solidFill>
                  <a:srgbClr val="4EB9A5"/>
                </a:solidFill>
                <a:latin typeface="Georgia"/>
                <a:ea typeface="Georgia"/>
                <a:cs typeface="Georgia"/>
                <a:sym typeface="Georgia"/>
              </a:rPr>
              <a:t>Controlled cutover.</a:t>
            </a:r>
            <a:endParaRPr sz="1100"/>
          </a:p>
        </p:txBody>
      </p:sp>
      <p:sp>
        <p:nvSpPr>
          <p:cNvPr id="564" name="Google Shape;564;p35"/>
          <p:cNvSpPr/>
          <p:nvPr/>
        </p:nvSpPr>
        <p:spPr>
          <a:xfrm>
            <a:off x="4929188" y="2857500"/>
            <a:ext cx="2571750" cy="74295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Keeps the exception</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Names dependencies</a:t>
            </a:r>
            <a:endParaRPr sz="1100"/>
          </a:p>
          <a:p>
            <a:pPr indent="0" lvl="0" marL="0" marR="0" rtl="0" algn="l">
              <a:lnSpc>
                <a:spcPct val="14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Carries a rebuild path</a:t>
            </a:r>
            <a:endParaRPr sz="1100"/>
          </a:p>
        </p:txBody>
      </p:sp>
      <p:sp>
        <p:nvSpPr>
          <p:cNvPr id="565" name="Google Shape;565;p35"/>
          <p:cNvSpPr/>
          <p:nvPr/>
        </p:nvSpPr>
        <p:spPr>
          <a:xfrm>
            <a:off x="514350" y="3914775"/>
            <a:ext cx="6986588" cy="14288"/>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6" name="Google Shape;566;p35"/>
          <p:cNvSpPr/>
          <p:nvPr/>
        </p:nvSpPr>
        <p:spPr>
          <a:xfrm>
            <a:off x="514350" y="4057650"/>
            <a:ext cx="642937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v2 becomes current; v1 remains historical.</a:t>
            </a:r>
            <a:endParaRPr sz="1100"/>
          </a:p>
        </p:txBody>
      </p:sp>
      <p:sp>
        <p:nvSpPr>
          <p:cNvPr id="567" name="Google Shape;567;p35"/>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68" name="Google Shape;568;p35"/>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569" name="Google Shape;569;p35"/>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19</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574" name="Shape 574"/>
        <p:cNvGrpSpPr/>
        <p:nvPr/>
      </p:nvGrpSpPr>
      <p:grpSpPr>
        <a:xfrm>
          <a:off x="0" y="0"/>
          <a:ext cx="0" cy="0"/>
          <a:chOff x="0" y="0"/>
          <a:chExt cx="0" cy="0"/>
        </a:xfrm>
      </p:grpSpPr>
      <p:sp>
        <p:nvSpPr>
          <p:cNvPr id="575" name="Google Shape;575;p36"/>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ILLUSTRATIVE OFFLINE REPLAY</a:t>
            </a:r>
            <a:endParaRPr sz="1100"/>
          </a:p>
        </p:txBody>
      </p:sp>
      <p:sp>
        <p:nvSpPr>
          <p:cNvPr id="576" name="Google Shape;576;p36"/>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Prove that remembering changed the action.</a:t>
            </a:r>
            <a:endParaRPr sz="1100"/>
          </a:p>
        </p:txBody>
      </p:sp>
      <p:sp>
        <p:nvSpPr>
          <p:cNvPr id="577" name="Google Shape;577;p36"/>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8" name="Google Shape;578;p36"/>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79" name="Google Shape;579;p36"/>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580" name="Google Shape;580;p36"/>
          <p:cNvPicPr preferRelativeResize="0"/>
          <p:nvPr/>
        </p:nvPicPr>
        <p:blipFill rotWithShape="1">
          <a:blip r:embed="rId3">
            <a:alphaModFix/>
          </a:blip>
          <a:srcRect b="0" l="0" r="0" t="0"/>
          <a:stretch/>
        </p:blipFill>
        <p:spPr>
          <a:xfrm>
            <a:off x="514350" y="1714500"/>
            <a:ext cx="5000625" cy="2357438"/>
          </a:xfrm>
          <a:prstGeom prst="rect">
            <a:avLst/>
          </a:prstGeom>
          <a:noFill/>
          <a:ln>
            <a:noFill/>
          </a:ln>
        </p:spPr>
      </p:pic>
      <p:sp>
        <p:nvSpPr>
          <p:cNvPr id="581" name="Google Shape;581;p36"/>
          <p:cNvSpPr/>
          <p:nvPr/>
        </p:nvSpPr>
        <p:spPr>
          <a:xfrm>
            <a:off x="6015038" y="2000250"/>
            <a:ext cx="1785938"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2000"/>
              <a:buFont typeface="Georgia"/>
              <a:buNone/>
            </a:pPr>
            <a:r>
              <a:rPr b="1" i="0" lang="en" sz="2000">
                <a:solidFill>
                  <a:srgbClr val="F1872D"/>
                </a:solidFill>
                <a:latin typeface="Georgia"/>
                <a:ea typeface="Georgia"/>
                <a:cs typeface="Georgia"/>
                <a:sym typeface="Georgia"/>
              </a:rPr>
              <a:t>2 / 5 → 5 / 5</a:t>
            </a:r>
            <a:endParaRPr sz="1100"/>
          </a:p>
        </p:txBody>
      </p:sp>
      <p:sp>
        <p:nvSpPr>
          <p:cNvPr id="582" name="Google Shape;582;p36"/>
          <p:cNvSpPr/>
          <p:nvPr/>
        </p:nvSpPr>
        <p:spPr>
          <a:xfrm>
            <a:off x="6029325" y="2500313"/>
            <a:ext cx="185737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cases passed</a:t>
            </a:r>
            <a:endParaRPr sz="1100"/>
          </a:p>
        </p:txBody>
      </p:sp>
      <p:sp>
        <p:nvSpPr>
          <p:cNvPr id="583" name="Google Shape;583;p36"/>
          <p:cNvSpPr/>
          <p:nvPr/>
        </p:nvSpPr>
        <p:spPr>
          <a:xfrm>
            <a:off x="6015038" y="3014663"/>
            <a:ext cx="1928813" cy="65722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Candidate: +0.2 cost vs incumbent</a:t>
            </a:r>
            <a:endParaRPr sz="1100"/>
          </a:p>
          <a:p>
            <a:pPr indent="0" lvl="0" marL="0" marR="0" rtl="0" algn="l">
              <a:lnSpc>
                <a:spcPct val="115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Direct source: 5/5 at cost 5.0</a:t>
            </a:r>
            <a:endParaRPr sz="1100"/>
          </a:p>
          <a:p>
            <a:pPr indent="0" lvl="0" marL="0" marR="0" rtl="0" algn="l">
              <a:lnSpc>
                <a:spcPct val="115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Activation: awaiting purchasing owner</a:t>
            </a:r>
            <a:endParaRPr sz="1100"/>
          </a:p>
        </p:txBody>
      </p:sp>
      <p:sp>
        <p:nvSpPr>
          <p:cNvPr id="584" name="Google Shape;584;p36"/>
          <p:cNvSpPr/>
          <p:nvPr/>
        </p:nvSpPr>
        <p:spPr>
          <a:xfrm>
            <a:off x="6015038" y="3914775"/>
            <a:ext cx="1571625"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Deterministic five-case replay · not a benchmark</a:t>
            </a:r>
            <a:endParaRPr sz="1100"/>
          </a:p>
        </p:txBody>
      </p:sp>
      <p:sp>
        <p:nvSpPr>
          <p:cNvPr id="585" name="Google Shape;585;p36"/>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6" name="Google Shape;586;p36"/>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587" name="Google Shape;587;p36"/>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20</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592" name="Shape 592"/>
        <p:cNvGrpSpPr/>
        <p:nvPr/>
      </p:nvGrpSpPr>
      <p:grpSpPr>
        <a:xfrm>
          <a:off x="0" y="0"/>
          <a:ext cx="0" cy="0"/>
          <a:chOff x="0" y="0"/>
          <a:chExt cx="0" cy="0"/>
        </a:xfrm>
      </p:grpSpPr>
      <p:sp>
        <p:nvSpPr>
          <p:cNvPr id="593" name="Google Shape;593;p37"/>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THE NEXT TIMEOUT</a:t>
            </a:r>
            <a:endParaRPr sz="1100"/>
          </a:p>
        </p:txBody>
      </p:sp>
      <p:sp>
        <p:nvSpPr>
          <p:cNvPr id="594" name="Google Shape;594;p37"/>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The next timeout ends differently.</a:t>
            </a:r>
            <a:endParaRPr sz="1100"/>
          </a:p>
        </p:txBody>
      </p:sp>
      <p:sp>
        <p:nvSpPr>
          <p:cNvPr id="595" name="Google Shape;595;p37"/>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6" name="Google Shape;596;p37"/>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7" name="Google Shape;597;p37"/>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8" name="Google Shape;598;p37"/>
          <p:cNvSpPr/>
          <p:nvPr/>
        </p:nvSpPr>
        <p:spPr>
          <a:xfrm>
            <a:off x="1957388"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EB9A5"/>
              </a:buClr>
              <a:buSzPts val="1400"/>
              <a:buFont typeface="Arial"/>
              <a:buNone/>
            </a:pPr>
            <a:r>
              <a:rPr b="1" i="0" lang="en" sz="1400">
                <a:solidFill>
                  <a:srgbClr val="4EB9A5"/>
                </a:solidFill>
                <a:latin typeface="Arial"/>
                <a:ea typeface="Arial"/>
                <a:cs typeface="Arial"/>
                <a:sym typeface="Arial"/>
              </a:rPr>
              <a:t>→</a:t>
            </a:r>
            <a:endParaRPr sz="1100"/>
          </a:p>
        </p:txBody>
      </p:sp>
      <p:sp>
        <p:nvSpPr>
          <p:cNvPr id="599" name="Google Shape;599;p37"/>
          <p:cNvSpPr/>
          <p:nvPr/>
        </p:nvSpPr>
        <p:spPr>
          <a:xfrm>
            <a:off x="3800475"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F78ED"/>
              </a:buClr>
              <a:buSzPts val="1400"/>
              <a:buFont typeface="Arial"/>
              <a:buNone/>
            </a:pPr>
            <a:r>
              <a:rPr b="1" i="0" lang="en" sz="1400">
                <a:solidFill>
                  <a:srgbClr val="4F78ED"/>
                </a:solidFill>
                <a:latin typeface="Arial"/>
                <a:ea typeface="Arial"/>
                <a:cs typeface="Arial"/>
                <a:sym typeface="Arial"/>
              </a:rPr>
              <a:t>→</a:t>
            </a:r>
            <a:endParaRPr sz="1100"/>
          </a:p>
        </p:txBody>
      </p:sp>
      <p:sp>
        <p:nvSpPr>
          <p:cNvPr id="600" name="Google Shape;600;p37"/>
          <p:cNvSpPr/>
          <p:nvPr/>
        </p:nvSpPr>
        <p:spPr>
          <a:xfrm>
            <a:off x="5643563" y="2043113"/>
            <a:ext cx="228600" cy="27146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B94C"/>
              </a:buClr>
              <a:buSzPts val="1400"/>
              <a:buFont typeface="Arial"/>
              <a:buNone/>
            </a:pPr>
            <a:r>
              <a:rPr b="1" i="0" lang="en" sz="1400">
                <a:solidFill>
                  <a:srgbClr val="E5B94C"/>
                </a:solidFill>
                <a:latin typeface="Arial"/>
                <a:ea typeface="Arial"/>
                <a:cs typeface="Arial"/>
                <a:sym typeface="Arial"/>
              </a:rPr>
              <a:t>→</a:t>
            </a:r>
            <a:endParaRPr sz="1100"/>
          </a:p>
        </p:txBody>
      </p:sp>
      <p:sp>
        <p:nvSpPr>
          <p:cNvPr id="601" name="Google Shape;601;p37"/>
          <p:cNvSpPr/>
          <p:nvPr/>
        </p:nvSpPr>
        <p:spPr>
          <a:xfrm>
            <a:off x="514350" y="1985963"/>
            <a:ext cx="371475" cy="371475"/>
          </a:xfrm>
          <a:prstGeom prst="ellipse">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2" name="Google Shape;602;p37"/>
          <p:cNvSpPr/>
          <p:nvPr/>
        </p:nvSpPr>
        <p:spPr>
          <a:xfrm>
            <a:off x="514350"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01</a:t>
            </a:r>
            <a:endParaRPr sz="1100"/>
          </a:p>
        </p:txBody>
      </p:sp>
      <p:sp>
        <p:nvSpPr>
          <p:cNvPr id="603" name="Google Shape;603;p37"/>
          <p:cNvSpPr/>
          <p:nvPr/>
        </p:nvSpPr>
        <p:spPr>
          <a:xfrm>
            <a:off x="514350"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Same intent</a:t>
            </a:r>
            <a:endParaRPr sz="1100"/>
          </a:p>
        </p:txBody>
      </p:sp>
      <p:sp>
        <p:nvSpPr>
          <p:cNvPr id="604" name="Google Shape;604;p37"/>
          <p:cNvSpPr/>
          <p:nvPr/>
        </p:nvSpPr>
        <p:spPr>
          <a:xfrm>
            <a:off x="514350"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The purchase keeps a stable operation identity.</a:t>
            </a:r>
            <a:endParaRPr sz="1100"/>
          </a:p>
        </p:txBody>
      </p:sp>
      <p:sp>
        <p:nvSpPr>
          <p:cNvPr id="605" name="Google Shape;605;p37"/>
          <p:cNvSpPr/>
          <p:nvPr/>
        </p:nvSpPr>
        <p:spPr>
          <a:xfrm>
            <a:off x="514350" y="3543300"/>
            <a:ext cx="1500188"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6" name="Google Shape;606;p37"/>
          <p:cNvSpPr/>
          <p:nvPr/>
        </p:nvSpPr>
        <p:spPr>
          <a:xfrm>
            <a:off x="2357438" y="1985963"/>
            <a:ext cx="371475" cy="371475"/>
          </a:xfrm>
          <a:prstGeom prst="ellipse">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7" name="Google Shape;607;p37"/>
          <p:cNvSpPr/>
          <p:nvPr/>
        </p:nvSpPr>
        <p:spPr>
          <a:xfrm>
            <a:off x="2357438"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02</a:t>
            </a:r>
            <a:endParaRPr sz="1100"/>
          </a:p>
        </p:txBody>
      </p:sp>
      <p:sp>
        <p:nvSpPr>
          <p:cNvPr id="608" name="Google Shape;608;p37"/>
          <p:cNvSpPr/>
          <p:nvPr/>
        </p:nvSpPr>
        <p:spPr>
          <a:xfrm>
            <a:off x="2357438"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Same key</a:t>
            </a:r>
            <a:endParaRPr sz="1100"/>
          </a:p>
        </p:txBody>
      </p:sp>
      <p:sp>
        <p:nvSpPr>
          <p:cNvPr id="609" name="Google Shape;609;p37"/>
          <p:cNvSpPr/>
          <p:nvPr/>
        </p:nvSpPr>
        <p:spPr>
          <a:xfrm>
            <a:off x="2357438"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A replay cannot create a second charge.</a:t>
            </a:r>
            <a:endParaRPr sz="1100"/>
          </a:p>
        </p:txBody>
      </p:sp>
      <p:sp>
        <p:nvSpPr>
          <p:cNvPr id="610" name="Google Shape;610;p37"/>
          <p:cNvSpPr/>
          <p:nvPr/>
        </p:nvSpPr>
        <p:spPr>
          <a:xfrm>
            <a:off x="2357438" y="3543300"/>
            <a:ext cx="1500188"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1" name="Google Shape;611;p37"/>
          <p:cNvSpPr/>
          <p:nvPr/>
        </p:nvSpPr>
        <p:spPr>
          <a:xfrm>
            <a:off x="4200525" y="1985963"/>
            <a:ext cx="371475" cy="371475"/>
          </a:xfrm>
          <a:prstGeom prst="ellipse">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2" name="Google Shape;612;p37"/>
          <p:cNvSpPr/>
          <p:nvPr/>
        </p:nvSpPr>
        <p:spPr>
          <a:xfrm>
            <a:off x="4200525"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03</a:t>
            </a:r>
            <a:endParaRPr sz="1100"/>
          </a:p>
        </p:txBody>
      </p:sp>
      <p:sp>
        <p:nvSpPr>
          <p:cNvPr id="613" name="Google Shape;613;p37"/>
          <p:cNvSpPr/>
          <p:nvPr/>
        </p:nvSpPr>
        <p:spPr>
          <a:xfrm>
            <a:off x="4200525"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Reconcile first</a:t>
            </a:r>
            <a:endParaRPr sz="1100"/>
          </a:p>
        </p:txBody>
      </p:sp>
      <p:sp>
        <p:nvSpPr>
          <p:cNvPr id="614" name="Google Shape;614;p37"/>
          <p:cNvSpPr/>
          <p:nvPr/>
        </p:nvSpPr>
        <p:spPr>
          <a:xfrm>
            <a:off x="4200525"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Check authoritative state before another write.</a:t>
            </a:r>
            <a:endParaRPr sz="1100"/>
          </a:p>
        </p:txBody>
      </p:sp>
      <p:sp>
        <p:nvSpPr>
          <p:cNvPr id="615" name="Google Shape;615;p37"/>
          <p:cNvSpPr/>
          <p:nvPr/>
        </p:nvSpPr>
        <p:spPr>
          <a:xfrm>
            <a:off x="4200525" y="3543300"/>
            <a:ext cx="1500188"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6" name="Google Shape;616;p37"/>
          <p:cNvSpPr/>
          <p:nvPr/>
        </p:nvSpPr>
        <p:spPr>
          <a:xfrm>
            <a:off x="6043613" y="1985963"/>
            <a:ext cx="371475" cy="371475"/>
          </a:xfrm>
          <a:prstGeom prst="ellipse">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17" name="Google Shape;617;p37"/>
          <p:cNvSpPr/>
          <p:nvPr/>
        </p:nvSpPr>
        <p:spPr>
          <a:xfrm>
            <a:off x="6043613" y="2100263"/>
            <a:ext cx="37147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04</a:t>
            </a:r>
            <a:endParaRPr sz="1100"/>
          </a:p>
        </p:txBody>
      </p:sp>
      <p:sp>
        <p:nvSpPr>
          <p:cNvPr id="618" name="Google Shape;618;p37"/>
          <p:cNvSpPr/>
          <p:nvPr/>
        </p:nvSpPr>
        <p:spPr>
          <a:xfrm>
            <a:off x="6043613" y="2557463"/>
            <a:ext cx="1500188"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One charge</a:t>
            </a:r>
            <a:endParaRPr sz="1100"/>
          </a:p>
        </p:txBody>
      </p:sp>
      <p:sp>
        <p:nvSpPr>
          <p:cNvPr id="619" name="Google Shape;619;p37"/>
          <p:cNvSpPr/>
          <p:nvPr/>
        </p:nvSpPr>
        <p:spPr>
          <a:xfrm>
            <a:off x="6043613" y="2857500"/>
            <a:ext cx="1500188"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900"/>
              <a:buFont typeface="Arial"/>
              <a:buNone/>
            </a:pPr>
            <a:r>
              <a:rPr b="0" i="0" lang="en" sz="900">
                <a:solidFill>
                  <a:srgbClr val="5C5B55"/>
                </a:solidFill>
                <a:latin typeface="Arial"/>
                <a:ea typeface="Arial"/>
                <a:cs typeface="Arial"/>
                <a:sym typeface="Arial"/>
              </a:rPr>
              <a:t>Return the confirmed purchase.</a:t>
            </a:r>
            <a:endParaRPr sz="1100"/>
          </a:p>
        </p:txBody>
      </p:sp>
      <p:sp>
        <p:nvSpPr>
          <p:cNvPr id="620" name="Google Shape;620;p37"/>
          <p:cNvSpPr/>
          <p:nvPr/>
        </p:nvSpPr>
        <p:spPr>
          <a:xfrm>
            <a:off x="6043613" y="3543300"/>
            <a:ext cx="1500188" cy="14288"/>
          </a:xfrm>
          <a:prstGeom prst="rect">
            <a:avLst/>
          </a:prstGeom>
          <a:solidFill>
            <a:srgbClr val="E5B94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1" name="Google Shape;621;p37"/>
          <p:cNvSpPr/>
          <p:nvPr/>
        </p:nvSpPr>
        <p:spPr>
          <a:xfrm>
            <a:off x="514350" y="3914775"/>
            <a:ext cx="5143500"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Route the evidence. Govern the lifecycle. Measure the action.</a:t>
            </a:r>
            <a:endParaRPr sz="1100"/>
          </a:p>
        </p:txBody>
      </p:sp>
      <p:sp>
        <p:nvSpPr>
          <p:cNvPr id="622" name="Google Shape;622;p37"/>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3" name="Google Shape;623;p37"/>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624" name="Google Shape;624;p37"/>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21</a:t>
            </a:r>
            <a:endParaRPr sz="1100"/>
          </a:p>
        </p:txBody>
      </p:sp>
      <p:pic>
        <p:nvPicPr>
          <p:cNvPr id="625" name="Google Shape;625;p37"/>
          <p:cNvPicPr preferRelativeResize="0"/>
          <p:nvPr/>
        </p:nvPicPr>
        <p:blipFill rotWithShape="1">
          <a:blip r:embed="rId3">
            <a:alphaModFix/>
          </a:blip>
          <a:srcRect b="0" l="0" r="0" t="0"/>
          <a:stretch/>
        </p:blipFill>
        <p:spPr>
          <a:xfrm>
            <a:off x="7902925" y="3714750"/>
            <a:ext cx="639063" cy="828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630" name="Shape 630"/>
        <p:cNvGrpSpPr/>
        <p:nvPr/>
      </p:nvGrpSpPr>
      <p:grpSpPr>
        <a:xfrm>
          <a:off x="0" y="0"/>
          <a:ext cx="0" cy="0"/>
          <a:chOff x="0" y="0"/>
          <a:chExt cx="0" cy="0"/>
        </a:xfrm>
      </p:grpSpPr>
      <p:sp>
        <p:nvSpPr>
          <p:cNvPr id="631" name="Google Shape;631;p38"/>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APPENDIX · CHAPTER 1 FIGURE 1-2</a:t>
            </a:r>
            <a:endParaRPr sz="1100"/>
          </a:p>
        </p:txBody>
      </p:sp>
      <p:sp>
        <p:nvSpPr>
          <p:cNvPr id="632" name="Google Shape;632;p38"/>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Continuity makes adaptation possible.</a:t>
            </a:r>
            <a:endParaRPr sz="1100"/>
          </a:p>
        </p:txBody>
      </p:sp>
      <p:sp>
        <p:nvSpPr>
          <p:cNvPr id="633" name="Google Shape;633;p38"/>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4" name="Google Shape;634;p38"/>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5" name="Google Shape;635;p38"/>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6" name="Google Shape;636;p38"/>
          <p:cNvSpPr/>
          <p:nvPr/>
        </p:nvSpPr>
        <p:spPr>
          <a:xfrm>
            <a:off x="514350" y="4214813"/>
            <a:ext cx="6429375" cy="1714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Continuity → adaptivity → compounding.</a:t>
            </a:r>
            <a:endParaRPr sz="1100"/>
          </a:p>
        </p:txBody>
      </p:sp>
      <p:sp>
        <p:nvSpPr>
          <p:cNvPr id="637" name="Google Shape;637;p38"/>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8" name="Google Shape;638;p38"/>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639" name="Google Shape;639;p38"/>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22</a:t>
            </a:r>
            <a:endParaRPr sz="1100"/>
          </a:p>
        </p:txBody>
      </p:sp>
      <p:pic>
        <p:nvPicPr>
          <p:cNvPr id="640" name="Google Shape;640;p38"/>
          <p:cNvPicPr preferRelativeResize="0"/>
          <p:nvPr/>
        </p:nvPicPr>
        <p:blipFill rotWithShape="1">
          <a:blip r:embed="rId3">
            <a:alphaModFix/>
          </a:blip>
          <a:srcRect b="0" l="0" r="0" t="0"/>
          <a:stretch/>
        </p:blipFill>
        <p:spPr>
          <a:xfrm>
            <a:off x="912564" y="1571625"/>
            <a:ext cx="5418634" cy="250031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645" name="Shape 645"/>
        <p:cNvGrpSpPr/>
        <p:nvPr/>
      </p:nvGrpSpPr>
      <p:grpSpPr>
        <a:xfrm>
          <a:off x="0" y="0"/>
          <a:ext cx="0" cy="0"/>
          <a:chOff x="0" y="0"/>
          <a:chExt cx="0" cy="0"/>
        </a:xfrm>
      </p:grpSpPr>
      <p:sp>
        <p:nvSpPr>
          <p:cNvPr id="646" name="Google Shape;646;p39"/>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APPENDIX · CHAPTER 2 FIGURE 2-3</a:t>
            </a:r>
            <a:endParaRPr sz="1100"/>
          </a:p>
        </p:txBody>
      </p:sp>
      <p:sp>
        <p:nvSpPr>
          <p:cNvPr id="647" name="Google Shape;647;p39"/>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Richer meaning costs more to create—and to trust.</a:t>
            </a:r>
            <a:endParaRPr sz="1100"/>
          </a:p>
        </p:txBody>
      </p:sp>
      <p:sp>
        <p:nvSpPr>
          <p:cNvPr id="648" name="Google Shape;648;p39"/>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49" name="Google Shape;649;p39"/>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0" name="Google Shape;650;p39"/>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1" name="Google Shape;651;p39"/>
          <p:cNvSpPr/>
          <p:nvPr/>
        </p:nvSpPr>
        <p:spPr>
          <a:xfrm>
            <a:off x="5572125" y="1685925"/>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700"/>
              <a:buFont typeface="Arial"/>
              <a:buNone/>
            </a:pPr>
            <a:r>
              <a:rPr b="1" i="0" lang="en" sz="700">
                <a:solidFill>
                  <a:srgbClr val="F1872D"/>
                </a:solidFill>
                <a:latin typeface="Arial"/>
                <a:ea typeface="Arial"/>
                <a:cs typeface="Arial"/>
                <a:sym typeface="Arial"/>
              </a:rPr>
              <a:t>COPY</a:t>
            </a:r>
            <a:endParaRPr sz="1100"/>
          </a:p>
        </p:txBody>
      </p:sp>
      <p:sp>
        <p:nvSpPr>
          <p:cNvPr id="652" name="Google Shape;652;p39"/>
          <p:cNvSpPr/>
          <p:nvPr/>
        </p:nvSpPr>
        <p:spPr>
          <a:xfrm>
            <a:off x="5572125" y="1914525"/>
            <a:ext cx="2143125" cy="4000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400"/>
              <a:buFont typeface="Georgia"/>
              <a:buNone/>
            </a:pPr>
            <a:r>
              <a:rPr b="1" i="0" lang="en" sz="1400">
                <a:solidFill>
                  <a:srgbClr val="25251F"/>
                </a:solidFill>
                <a:latin typeface="Georgia"/>
                <a:ea typeface="Georgia"/>
                <a:cs typeface="Georgia"/>
                <a:sym typeface="Georgia"/>
              </a:rPr>
              <a:t>Cheap, direct, and source-grounded.</a:t>
            </a:r>
            <a:endParaRPr sz="1100"/>
          </a:p>
        </p:txBody>
      </p:sp>
      <p:sp>
        <p:nvSpPr>
          <p:cNvPr id="653" name="Google Shape;653;p39"/>
          <p:cNvSpPr/>
          <p:nvPr/>
        </p:nvSpPr>
        <p:spPr>
          <a:xfrm>
            <a:off x="5572125" y="2571750"/>
            <a:ext cx="12858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INFER</a:t>
            </a:r>
            <a:endParaRPr sz="1100"/>
          </a:p>
        </p:txBody>
      </p:sp>
      <p:sp>
        <p:nvSpPr>
          <p:cNvPr id="654" name="Google Shape;654;p39"/>
          <p:cNvSpPr/>
          <p:nvPr/>
        </p:nvSpPr>
        <p:spPr>
          <a:xfrm>
            <a:off x="5572125" y="2800350"/>
            <a:ext cx="2143125" cy="457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000"/>
              <a:buFont typeface="Arial"/>
              <a:buNone/>
            </a:pPr>
            <a:r>
              <a:rPr b="0" i="0" lang="en" sz="1000">
                <a:solidFill>
                  <a:srgbClr val="5C5B55"/>
                </a:solidFill>
                <a:latin typeface="Arial"/>
                <a:ea typeface="Arial"/>
                <a:cs typeface="Arial"/>
                <a:sym typeface="Arial"/>
              </a:rPr>
              <a:t>Useful and scalable, but imperfect.</a:t>
            </a:r>
            <a:endParaRPr sz="1100"/>
          </a:p>
        </p:txBody>
      </p:sp>
      <p:sp>
        <p:nvSpPr>
          <p:cNvPr id="655" name="Google Shape;655;p39"/>
          <p:cNvSpPr/>
          <p:nvPr/>
        </p:nvSpPr>
        <p:spPr>
          <a:xfrm>
            <a:off x="5572125" y="3514725"/>
            <a:ext cx="15716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DECLARE + GENERATE</a:t>
            </a:r>
            <a:endParaRPr sz="1100"/>
          </a:p>
        </p:txBody>
      </p:sp>
      <p:sp>
        <p:nvSpPr>
          <p:cNvPr id="656" name="Google Shape;656;p39"/>
          <p:cNvSpPr/>
          <p:nvPr/>
        </p:nvSpPr>
        <p:spPr>
          <a:xfrm>
            <a:off x="5572125" y="3743325"/>
            <a:ext cx="2143125" cy="485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Richer meaning still does not create organizational authority.</a:t>
            </a:r>
            <a:endParaRPr sz="1100"/>
          </a:p>
        </p:txBody>
      </p:sp>
      <p:sp>
        <p:nvSpPr>
          <p:cNvPr id="657" name="Google Shape;657;p39"/>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58" name="Google Shape;658;p39"/>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659" name="Google Shape;659;p39"/>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23</a:t>
            </a:r>
            <a:endParaRPr sz="1100"/>
          </a:p>
        </p:txBody>
      </p:sp>
      <p:pic>
        <p:nvPicPr>
          <p:cNvPr id="660" name="Google Shape;660;p39"/>
          <p:cNvPicPr preferRelativeResize="0"/>
          <p:nvPr/>
        </p:nvPicPr>
        <p:blipFill rotWithShape="1">
          <a:blip r:embed="rId3">
            <a:alphaModFix/>
          </a:blip>
          <a:srcRect b="0" l="0" r="0" t="0"/>
          <a:stretch/>
        </p:blipFill>
        <p:spPr>
          <a:xfrm>
            <a:off x="514350" y="1572135"/>
            <a:ext cx="4714875" cy="29636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665" name="Shape 665"/>
        <p:cNvGrpSpPr/>
        <p:nvPr/>
      </p:nvGrpSpPr>
      <p:grpSpPr>
        <a:xfrm>
          <a:off x="0" y="0"/>
          <a:ext cx="0" cy="0"/>
          <a:chOff x="0" y="0"/>
          <a:chExt cx="0" cy="0"/>
        </a:xfrm>
      </p:grpSpPr>
      <p:sp>
        <p:nvSpPr>
          <p:cNvPr id="666" name="Google Shape;666;p40"/>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APPENDIX · NORMALIZATION</a:t>
            </a:r>
            <a:endParaRPr sz="1100"/>
          </a:p>
        </p:txBody>
      </p:sp>
      <p:sp>
        <p:nvSpPr>
          <p:cNvPr id="667" name="Google Shape;667;p40"/>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500"/>
              <a:buFont typeface="Georgia"/>
              <a:buNone/>
            </a:pPr>
            <a:r>
              <a:rPr b="1" i="0" lang="en" sz="2500">
                <a:solidFill>
                  <a:srgbClr val="25251F"/>
                </a:solidFill>
                <a:latin typeface="Georgia"/>
                <a:ea typeface="Georgia"/>
                <a:cs typeface="Georgia"/>
                <a:sym typeface="Georgia"/>
              </a:rPr>
              <a:t>Raw records become routed evidence.</a:t>
            </a:r>
            <a:endParaRPr sz="1100"/>
          </a:p>
        </p:txBody>
      </p:sp>
      <p:sp>
        <p:nvSpPr>
          <p:cNvPr id="668" name="Google Shape;668;p40"/>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69" name="Google Shape;669;p40"/>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0" name="Google Shape;670;p40"/>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1" name="Google Shape;671;p40"/>
          <p:cNvSpPr/>
          <p:nvPr/>
        </p:nvSpPr>
        <p:spPr>
          <a:xfrm>
            <a:off x="514350" y="1543050"/>
            <a:ext cx="7358062" cy="485775"/>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100"/>
              <a:buFont typeface="Arial"/>
              <a:buNone/>
            </a:pPr>
            <a:r>
              <a:rPr b="0" i="0" lang="en" sz="1100">
                <a:solidFill>
                  <a:srgbClr val="5C5B55"/>
                </a:solidFill>
                <a:latin typeface="Arial"/>
                <a:ea typeface="Arial"/>
                <a:cs typeface="Arial"/>
                <a:sym typeface="Arial"/>
              </a:rPr>
              <a:t>A common envelope helps only when each record remains semantically legible.</a:t>
            </a:r>
            <a:endParaRPr sz="1100"/>
          </a:p>
        </p:txBody>
      </p:sp>
      <p:sp>
        <p:nvSpPr>
          <p:cNvPr id="672" name="Google Shape;672;p40"/>
          <p:cNvSpPr/>
          <p:nvPr/>
        </p:nvSpPr>
        <p:spPr>
          <a:xfrm>
            <a:off x="514350" y="2443163"/>
            <a:ext cx="314325" cy="314325"/>
          </a:xfrm>
          <a:prstGeom prst="roundRect">
            <a:avLst>
              <a:gd fmla="val 18182"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3" name="Google Shape;673;p40"/>
          <p:cNvSpPr/>
          <p:nvPr/>
        </p:nvSpPr>
        <p:spPr>
          <a:xfrm>
            <a:off x="514350"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01</a:t>
            </a:r>
            <a:endParaRPr sz="1100"/>
          </a:p>
        </p:txBody>
      </p:sp>
      <p:sp>
        <p:nvSpPr>
          <p:cNvPr id="674" name="Google Shape;674;p40"/>
          <p:cNvSpPr/>
          <p:nvPr/>
        </p:nvSpPr>
        <p:spPr>
          <a:xfrm>
            <a:off x="957263"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RawRecord</a:t>
            </a:r>
            <a:endParaRPr sz="1100"/>
          </a:p>
        </p:txBody>
      </p:sp>
      <p:sp>
        <p:nvSpPr>
          <p:cNvPr id="675" name="Google Shape;675;p40"/>
          <p:cNvSpPr/>
          <p:nvPr/>
        </p:nvSpPr>
        <p:spPr>
          <a:xfrm>
            <a:off x="957263"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Identity, source, title, URL, text, metadata</a:t>
            </a:r>
            <a:endParaRPr sz="1100"/>
          </a:p>
        </p:txBody>
      </p:sp>
      <p:sp>
        <p:nvSpPr>
          <p:cNvPr id="676" name="Google Shape;676;p40"/>
          <p:cNvSpPr/>
          <p:nvPr/>
        </p:nvSpPr>
        <p:spPr>
          <a:xfrm>
            <a:off x="2614613" y="2514600"/>
            <a:ext cx="300038" cy="2571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EB9A5"/>
              </a:buClr>
              <a:buSzPts val="1500"/>
              <a:buFont typeface="Arial"/>
              <a:buNone/>
            </a:pPr>
            <a:r>
              <a:rPr b="1" i="0" lang="en" sz="1500">
                <a:solidFill>
                  <a:srgbClr val="4EB9A5"/>
                </a:solidFill>
                <a:latin typeface="Arial"/>
                <a:ea typeface="Arial"/>
                <a:cs typeface="Arial"/>
                <a:sym typeface="Arial"/>
              </a:rPr>
              <a:t>→</a:t>
            </a:r>
            <a:endParaRPr sz="1100"/>
          </a:p>
        </p:txBody>
      </p:sp>
      <p:sp>
        <p:nvSpPr>
          <p:cNvPr id="677" name="Google Shape;677;p40"/>
          <p:cNvSpPr/>
          <p:nvPr/>
        </p:nvSpPr>
        <p:spPr>
          <a:xfrm>
            <a:off x="3071813" y="2443163"/>
            <a:ext cx="314325" cy="314325"/>
          </a:xfrm>
          <a:prstGeom prst="roundRect">
            <a:avLst>
              <a:gd fmla="val 18182"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78" name="Google Shape;678;p40"/>
          <p:cNvSpPr/>
          <p:nvPr/>
        </p:nvSpPr>
        <p:spPr>
          <a:xfrm>
            <a:off x="3071813"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02</a:t>
            </a:r>
            <a:endParaRPr sz="1100"/>
          </a:p>
        </p:txBody>
      </p:sp>
      <p:sp>
        <p:nvSpPr>
          <p:cNvPr id="679" name="Google Shape;679;p40"/>
          <p:cNvSpPr/>
          <p:nvPr/>
        </p:nvSpPr>
        <p:spPr>
          <a:xfrm>
            <a:off x="3514725"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MemoryRecord</a:t>
            </a:r>
            <a:endParaRPr sz="1100"/>
          </a:p>
        </p:txBody>
      </p:sp>
      <p:sp>
        <p:nvSpPr>
          <p:cNvPr id="680" name="Google Shape;680;p40"/>
          <p:cNvSpPr/>
          <p:nvPr/>
        </p:nvSpPr>
        <p:spPr>
          <a:xfrm>
            <a:off x="3514725"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Domain, owner, kind, authority, freshness</a:t>
            </a:r>
            <a:endParaRPr sz="1100"/>
          </a:p>
        </p:txBody>
      </p:sp>
      <p:sp>
        <p:nvSpPr>
          <p:cNvPr id="681" name="Google Shape;681;p40"/>
          <p:cNvSpPr/>
          <p:nvPr/>
        </p:nvSpPr>
        <p:spPr>
          <a:xfrm>
            <a:off x="5172075" y="2514600"/>
            <a:ext cx="300038" cy="2571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F78ED"/>
              </a:buClr>
              <a:buSzPts val="1500"/>
              <a:buFont typeface="Arial"/>
              <a:buNone/>
            </a:pPr>
            <a:r>
              <a:rPr b="1" i="0" lang="en" sz="1500">
                <a:solidFill>
                  <a:srgbClr val="4F78ED"/>
                </a:solidFill>
                <a:latin typeface="Arial"/>
                <a:ea typeface="Arial"/>
                <a:cs typeface="Arial"/>
                <a:sym typeface="Arial"/>
              </a:rPr>
              <a:t>→</a:t>
            </a:r>
            <a:endParaRPr sz="1100"/>
          </a:p>
        </p:txBody>
      </p:sp>
      <p:sp>
        <p:nvSpPr>
          <p:cNvPr id="682" name="Google Shape;682;p40"/>
          <p:cNvSpPr/>
          <p:nvPr/>
        </p:nvSpPr>
        <p:spPr>
          <a:xfrm>
            <a:off x="5629275" y="2443163"/>
            <a:ext cx="314325" cy="314325"/>
          </a:xfrm>
          <a:prstGeom prst="roundRect">
            <a:avLst>
              <a:gd fmla="val 18182"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83" name="Google Shape;683;p40"/>
          <p:cNvSpPr/>
          <p:nvPr/>
        </p:nvSpPr>
        <p:spPr>
          <a:xfrm>
            <a:off x="5629275" y="2514600"/>
            <a:ext cx="314325" cy="142875"/>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DF9"/>
              </a:buClr>
              <a:buSzPts val="700"/>
              <a:buFont typeface="Arial"/>
              <a:buNone/>
            </a:pPr>
            <a:r>
              <a:rPr b="1" i="0" lang="en" sz="700">
                <a:solidFill>
                  <a:srgbClr val="FFFDF9"/>
                </a:solidFill>
                <a:latin typeface="Arial"/>
                <a:ea typeface="Arial"/>
                <a:cs typeface="Arial"/>
                <a:sym typeface="Arial"/>
              </a:rPr>
              <a:t>03</a:t>
            </a:r>
            <a:endParaRPr sz="1100"/>
          </a:p>
        </p:txBody>
      </p:sp>
      <p:sp>
        <p:nvSpPr>
          <p:cNvPr id="684" name="Google Shape;684;p40"/>
          <p:cNvSpPr/>
          <p:nvPr/>
        </p:nvSpPr>
        <p:spPr>
          <a:xfrm>
            <a:off x="6072188" y="2443163"/>
            <a:ext cx="1571625" cy="200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100"/>
              <a:buFont typeface="Arial"/>
              <a:buNone/>
            </a:pPr>
            <a:r>
              <a:rPr b="1" i="0" lang="en" sz="1100">
                <a:solidFill>
                  <a:srgbClr val="25251F"/>
                </a:solidFill>
                <a:latin typeface="Arial"/>
                <a:ea typeface="Arial"/>
                <a:cs typeface="Arial"/>
                <a:sym typeface="Arial"/>
              </a:rPr>
              <a:t>RoutedEvidence</a:t>
            </a:r>
            <a:endParaRPr sz="1100"/>
          </a:p>
        </p:txBody>
      </p:sp>
      <p:sp>
        <p:nvSpPr>
          <p:cNvPr id="685" name="Google Shape;685;p40"/>
          <p:cNvSpPr/>
          <p:nvPr/>
        </p:nvSpPr>
        <p:spPr>
          <a:xfrm>
            <a:off x="6072188" y="2686050"/>
            <a:ext cx="1571625" cy="3429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C5B55"/>
              </a:buClr>
              <a:buSzPts val="800"/>
              <a:buFont typeface="Arial"/>
              <a:buNone/>
            </a:pPr>
            <a:r>
              <a:rPr b="0" i="0" lang="en" sz="800">
                <a:solidFill>
                  <a:srgbClr val="5C5B55"/>
                </a:solidFill>
                <a:latin typeface="Arial"/>
                <a:ea typeface="Arial"/>
                <a:cs typeface="Arial"/>
                <a:sym typeface="Arial"/>
              </a:rPr>
              <a:t>Task-scoped and authority-ranked</a:t>
            </a:r>
            <a:endParaRPr sz="1100"/>
          </a:p>
        </p:txBody>
      </p:sp>
      <p:sp>
        <p:nvSpPr>
          <p:cNvPr id="686" name="Google Shape;686;p40"/>
          <p:cNvSpPr/>
          <p:nvPr/>
        </p:nvSpPr>
        <p:spPr>
          <a:xfrm>
            <a:off x="957263" y="3014663"/>
            <a:ext cx="15716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Can we parse it?</a:t>
            </a:r>
            <a:endParaRPr sz="1100"/>
          </a:p>
        </p:txBody>
      </p:sp>
      <p:sp>
        <p:nvSpPr>
          <p:cNvPr id="687" name="Google Shape;687;p40"/>
          <p:cNvSpPr/>
          <p:nvPr/>
        </p:nvSpPr>
        <p:spPr>
          <a:xfrm>
            <a:off x="3514725" y="3014663"/>
            <a:ext cx="164306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Can we compare it?</a:t>
            </a:r>
            <a:endParaRPr sz="1100"/>
          </a:p>
        </p:txBody>
      </p:sp>
      <p:sp>
        <p:nvSpPr>
          <p:cNvPr id="688" name="Google Shape;688;p40"/>
          <p:cNvSpPr/>
          <p:nvPr/>
        </p:nvSpPr>
        <p:spPr>
          <a:xfrm>
            <a:off x="6072188" y="3014663"/>
            <a:ext cx="1643063"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C5B55"/>
              </a:buClr>
              <a:buSzPts val="800"/>
              <a:buFont typeface="Arial"/>
              <a:buNone/>
            </a:pPr>
            <a:r>
              <a:rPr b="0" i="1" lang="en" sz="800">
                <a:solidFill>
                  <a:srgbClr val="5C5B55"/>
                </a:solidFill>
                <a:latin typeface="Arial"/>
                <a:ea typeface="Arial"/>
                <a:cs typeface="Arial"/>
                <a:sym typeface="Arial"/>
              </a:rPr>
              <a:t>Does it matter now?</a:t>
            </a:r>
            <a:endParaRPr sz="1100"/>
          </a:p>
        </p:txBody>
      </p:sp>
      <p:sp>
        <p:nvSpPr>
          <p:cNvPr id="689" name="Google Shape;689;p40"/>
          <p:cNvSpPr/>
          <p:nvPr/>
        </p:nvSpPr>
        <p:spPr>
          <a:xfrm>
            <a:off x="514350" y="3671888"/>
            <a:ext cx="57150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Technical structure is necessary. Semantic structure makes routing principled.</a:t>
            </a:r>
            <a:endParaRPr sz="1100"/>
          </a:p>
        </p:txBody>
      </p:sp>
      <p:sp>
        <p:nvSpPr>
          <p:cNvPr id="690" name="Google Shape;690;p40"/>
          <p:cNvSpPr/>
          <p:nvPr/>
        </p:nvSpPr>
        <p:spPr>
          <a:xfrm>
            <a:off x="514350" y="3986213"/>
            <a:ext cx="1657350" cy="14288"/>
          </a:xfrm>
          <a:prstGeom prst="rect">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1" name="Google Shape;691;p40"/>
          <p:cNvSpPr/>
          <p:nvPr/>
        </p:nvSpPr>
        <p:spPr>
          <a:xfrm>
            <a:off x="2243138" y="3986213"/>
            <a:ext cx="771525" cy="14288"/>
          </a:xfrm>
          <a:prstGeom prst="rect">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2" name="Google Shape;692;p40"/>
          <p:cNvSpPr/>
          <p:nvPr/>
        </p:nvSpPr>
        <p:spPr>
          <a:xfrm>
            <a:off x="3086100" y="3986213"/>
            <a:ext cx="414338" cy="14288"/>
          </a:xfrm>
          <a:prstGeom prst="rect">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3" name="Google Shape;693;p40"/>
          <p:cNvSpPr/>
          <p:nvPr/>
        </p:nvSpPr>
        <p:spPr>
          <a:xfrm>
            <a:off x="514350" y="4114800"/>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SHAPE   ·   MEANING   ·   DECISION</a:t>
            </a:r>
            <a:endParaRPr sz="1100"/>
          </a:p>
        </p:txBody>
      </p:sp>
      <p:sp>
        <p:nvSpPr>
          <p:cNvPr id="694" name="Google Shape;694;p40"/>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95" name="Google Shape;695;p40"/>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696" name="Google Shape;696;p40"/>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24</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701" name="Shape 701"/>
        <p:cNvGrpSpPr/>
        <p:nvPr/>
      </p:nvGrpSpPr>
      <p:grpSpPr>
        <a:xfrm>
          <a:off x="0" y="0"/>
          <a:ext cx="0" cy="0"/>
          <a:chOff x="0" y="0"/>
          <a:chExt cx="0" cy="0"/>
        </a:xfrm>
      </p:grpSpPr>
      <p:sp>
        <p:nvSpPr>
          <p:cNvPr id="702" name="Google Shape;702;p41"/>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APPENDIX · POLICY REPLAY</a:t>
            </a:r>
            <a:endParaRPr sz="1100"/>
          </a:p>
        </p:txBody>
      </p:sp>
      <p:sp>
        <p:nvSpPr>
          <p:cNvPr id="703" name="Google Shape;703;p41"/>
          <p:cNvSpPr/>
          <p:nvPr/>
        </p:nvSpPr>
        <p:spPr>
          <a:xfrm>
            <a:off x="514350" y="757238"/>
            <a:ext cx="8115300" cy="414338"/>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25251F"/>
              </a:buClr>
              <a:buSzPts val="2400"/>
              <a:buFont typeface="Georgia"/>
              <a:buNone/>
            </a:pPr>
            <a:r>
              <a:rPr b="1" i="0" lang="en" sz="2400">
                <a:solidFill>
                  <a:srgbClr val="25251F"/>
                </a:solidFill>
                <a:latin typeface="Georgia"/>
                <a:ea typeface="Georgia"/>
                <a:cs typeface="Georgia"/>
                <a:sym typeface="Georgia"/>
              </a:rPr>
              <a:t>Evaluation can propose review—not grant authority.</a:t>
            </a:r>
            <a:endParaRPr sz="1100"/>
          </a:p>
        </p:txBody>
      </p:sp>
      <p:sp>
        <p:nvSpPr>
          <p:cNvPr id="704" name="Google Shape;704;p41"/>
          <p:cNvSpPr/>
          <p:nvPr/>
        </p:nvSpPr>
        <p:spPr>
          <a:xfrm>
            <a:off x="514350" y="1314450"/>
            <a:ext cx="842963" cy="50006"/>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5" name="Google Shape;705;p41"/>
          <p:cNvSpPr/>
          <p:nvPr/>
        </p:nvSpPr>
        <p:spPr>
          <a:xfrm>
            <a:off x="1428750" y="1314450"/>
            <a:ext cx="500063" cy="50006"/>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6" name="Google Shape;706;p41"/>
          <p:cNvSpPr/>
          <p:nvPr/>
        </p:nvSpPr>
        <p:spPr>
          <a:xfrm>
            <a:off x="2000250" y="1314450"/>
            <a:ext cx="200025" cy="50006"/>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7" name="Google Shape;707;p41"/>
          <p:cNvSpPr/>
          <p:nvPr/>
        </p:nvSpPr>
        <p:spPr>
          <a:xfrm>
            <a:off x="514350" y="1757363"/>
            <a:ext cx="18002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STATE</a:t>
            </a:r>
            <a:endParaRPr sz="1100"/>
          </a:p>
        </p:txBody>
      </p:sp>
      <p:sp>
        <p:nvSpPr>
          <p:cNvPr id="708" name="Google Shape;708;p41"/>
          <p:cNvSpPr/>
          <p:nvPr/>
        </p:nvSpPr>
        <p:spPr>
          <a:xfrm>
            <a:off x="2443163" y="1757363"/>
            <a:ext cx="18002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EVIDENCE</a:t>
            </a:r>
            <a:endParaRPr sz="1100"/>
          </a:p>
        </p:txBody>
      </p:sp>
      <p:sp>
        <p:nvSpPr>
          <p:cNvPr id="709" name="Google Shape;709;p41"/>
          <p:cNvSpPr/>
          <p:nvPr/>
        </p:nvSpPr>
        <p:spPr>
          <a:xfrm>
            <a:off x="4371975" y="1757363"/>
            <a:ext cx="168592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WHAT OPENS</a:t>
            </a:r>
            <a:endParaRPr sz="1100"/>
          </a:p>
        </p:txBody>
      </p:sp>
      <p:sp>
        <p:nvSpPr>
          <p:cNvPr id="710" name="Google Shape;710;p41"/>
          <p:cNvSpPr/>
          <p:nvPr/>
        </p:nvSpPr>
        <p:spPr>
          <a:xfrm>
            <a:off x="6186488" y="1757363"/>
            <a:ext cx="14001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700"/>
              <a:buFont typeface="Arial"/>
              <a:buNone/>
            </a:pPr>
            <a:r>
              <a:rPr b="1" i="0" lang="en" sz="700">
                <a:solidFill>
                  <a:srgbClr val="918B82"/>
                </a:solidFill>
                <a:latin typeface="Arial"/>
                <a:ea typeface="Arial"/>
                <a:cs typeface="Arial"/>
                <a:sym typeface="Arial"/>
              </a:rPr>
              <a:t>WHAT CREATES MEMORY</a:t>
            </a:r>
            <a:endParaRPr sz="1100"/>
          </a:p>
        </p:txBody>
      </p:sp>
      <p:sp>
        <p:nvSpPr>
          <p:cNvPr id="711" name="Google Shape;711;p41"/>
          <p:cNvSpPr/>
          <p:nvPr/>
        </p:nvSpPr>
        <p:spPr>
          <a:xfrm>
            <a:off x="514350" y="1985963"/>
            <a:ext cx="7200900" cy="14288"/>
          </a:xfrm>
          <a:prstGeom prst="rect">
            <a:avLst/>
          </a:prstGeom>
          <a:solidFill>
            <a:srgbClr val="25251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2" name="Google Shape;712;p41"/>
          <p:cNvSpPr/>
          <p:nvPr/>
        </p:nvSpPr>
        <p:spPr>
          <a:xfrm>
            <a:off x="514350" y="2143125"/>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Policy 7</a:t>
            </a:r>
            <a:endParaRPr sz="1100"/>
          </a:p>
        </p:txBody>
      </p:sp>
      <p:sp>
        <p:nvSpPr>
          <p:cNvPr id="713" name="Google Shape;713;p41"/>
          <p:cNvSpPr/>
          <p:nvPr/>
        </p:nvSpPr>
        <p:spPr>
          <a:xfrm>
            <a:off x="2443163" y="2143125"/>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2 supports &lt; 3</a:t>
            </a:r>
            <a:endParaRPr sz="1100"/>
          </a:p>
        </p:txBody>
      </p:sp>
      <p:sp>
        <p:nvSpPr>
          <p:cNvPr id="714" name="Google Shape;714;p41"/>
          <p:cNvSpPr/>
          <p:nvPr/>
        </p:nvSpPr>
        <p:spPr>
          <a:xfrm>
            <a:off x="4371975" y="2143125"/>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Nothing</a:t>
            </a:r>
            <a:endParaRPr sz="1100"/>
          </a:p>
        </p:txBody>
      </p:sp>
      <p:sp>
        <p:nvSpPr>
          <p:cNvPr id="715" name="Google Shape;715;p41"/>
          <p:cNvSpPr/>
          <p:nvPr/>
        </p:nvSpPr>
        <p:spPr>
          <a:xfrm>
            <a:off x="6186488" y="2143125"/>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900"/>
              <a:buFont typeface="Arial"/>
              <a:buNone/>
            </a:pPr>
            <a:r>
              <a:rPr b="1" i="0" lang="en" sz="900">
                <a:solidFill>
                  <a:srgbClr val="4EB9A5"/>
                </a:solidFill>
                <a:latin typeface="Arial"/>
                <a:ea typeface="Arial"/>
                <a:cs typeface="Arial"/>
                <a:sym typeface="Arial"/>
              </a:rPr>
              <a:t>—</a:t>
            </a:r>
            <a:endParaRPr sz="1100"/>
          </a:p>
        </p:txBody>
      </p:sp>
      <p:sp>
        <p:nvSpPr>
          <p:cNvPr id="716" name="Google Shape;716;p41"/>
          <p:cNvSpPr/>
          <p:nvPr/>
        </p:nvSpPr>
        <p:spPr>
          <a:xfrm>
            <a:off x="514350" y="2471738"/>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17" name="Google Shape;717;p41"/>
          <p:cNvSpPr/>
          <p:nvPr/>
        </p:nvSpPr>
        <p:spPr>
          <a:xfrm>
            <a:off x="514350" y="2614613"/>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Policy 8b</a:t>
            </a:r>
            <a:endParaRPr sz="1100"/>
          </a:p>
        </p:txBody>
      </p:sp>
      <p:sp>
        <p:nvSpPr>
          <p:cNvPr id="718" name="Google Shape;718;p41"/>
          <p:cNvSpPr/>
          <p:nvPr/>
        </p:nvSpPr>
        <p:spPr>
          <a:xfrm>
            <a:off x="2443163" y="2614613"/>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2 supports ≥ 2</a:t>
            </a:r>
            <a:endParaRPr sz="1100"/>
          </a:p>
        </p:txBody>
      </p:sp>
      <p:sp>
        <p:nvSpPr>
          <p:cNvPr id="719" name="Google Shape;719;p41"/>
          <p:cNvSpPr/>
          <p:nvPr/>
        </p:nvSpPr>
        <p:spPr>
          <a:xfrm>
            <a:off x="4371975" y="2614613"/>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Proposal + owner review</a:t>
            </a:r>
            <a:endParaRPr sz="1100"/>
          </a:p>
        </p:txBody>
      </p:sp>
      <p:sp>
        <p:nvSpPr>
          <p:cNvPr id="720" name="Google Shape;720;p41"/>
          <p:cNvSpPr/>
          <p:nvPr/>
        </p:nvSpPr>
        <p:spPr>
          <a:xfrm>
            <a:off x="6186488" y="2614613"/>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5B94C"/>
              </a:buClr>
              <a:buSzPts val="900"/>
              <a:buFont typeface="Arial"/>
              <a:buNone/>
            </a:pPr>
            <a:r>
              <a:rPr b="1" i="0" lang="en" sz="900">
                <a:solidFill>
                  <a:srgbClr val="E5B94C"/>
                </a:solidFill>
                <a:latin typeface="Arial"/>
                <a:ea typeface="Arial"/>
                <a:cs typeface="Arial"/>
                <a:sym typeface="Arial"/>
              </a:rPr>
              <a:t>Owner approval</a:t>
            </a:r>
            <a:endParaRPr sz="1100"/>
          </a:p>
        </p:txBody>
      </p:sp>
      <p:sp>
        <p:nvSpPr>
          <p:cNvPr id="721" name="Google Shape;721;p41"/>
          <p:cNvSpPr/>
          <p:nvPr/>
        </p:nvSpPr>
        <p:spPr>
          <a:xfrm>
            <a:off x="514350" y="2943225"/>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2" name="Google Shape;722;p41"/>
          <p:cNvSpPr/>
          <p:nvPr/>
        </p:nvSpPr>
        <p:spPr>
          <a:xfrm>
            <a:off x="514350" y="3086100"/>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Evaluation</a:t>
            </a:r>
            <a:endParaRPr sz="1100"/>
          </a:p>
        </p:txBody>
      </p:sp>
      <p:sp>
        <p:nvSpPr>
          <p:cNvPr id="723" name="Google Shape;723;p41"/>
          <p:cNvSpPr/>
          <p:nvPr/>
        </p:nvSpPr>
        <p:spPr>
          <a:xfrm>
            <a:off x="2443163" y="3086100"/>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Candidate 5/5</a:t>
            </a:r>
            <a:endParaRPr sz="1100"/>
          </a:p>
        </p:txBody>
      </p:sp>
      <p:sp>
        <p:nvSpPr>
          <p:cNvPr id="724" name="Google Shape;724;p41"/>
          <p:cNvSpPr/>
          <p:nvPr/>
        </p:nvSpPr>
        <p:spPr>
          <a:xfrm>
            <a:off x="4371975" y="3086100"/>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Policy review</a:t>
            </a:r>
            <a:endParaRPr sz="1100"/>
          </a:p>
        </p:txBody>
      </p:sp>
      <p:sp>
        <p:nvSpPr>
          <p:cNvPr id="725" name="Google Shape;725;p41"/>
          <p:cNvSpPr/>
          <p:nvPr/>
        </p:nvSpPr>
        <p:spPr>
          <a:xfrm>
            <a:off x="6186488" y="3086100"/>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1872D"/>
              </a:buClr>
              <a:buSzPts val="900"/>
              <a:buFont typeface="Arial"/>
              <a:buNone/>
            </a:pPr>
            <a:r>
              <a:rPr b="1" i="0" lang="en" sz="900">
                <a:solidFill>
                  <a:srgbClr val="F1872D"/>
                </a:solidFill>
                <a:latin typeface="Arial"/>
                <a:ea typeface="Arial"/>
                <a:cs typeface="Arial"/>
                <a:sym typeface="Arial"/>
              </a:rPr>
              <a:t>Never self-activation</a:t>
            </a:r>
            <a:endParaRPr sz="1100"/>
          </a:p>
        </p:txBody>
      </p:sp>
      <p:sp>
        <p:nvSpPr>
          <p:cNvPr id="726" name="Google Shape;726;p41"/>
          <p:cNvSpPr/>
          <p:nvPr/>
        </p:nvSpPr>
        <p:spPr>
          <a:xfrm>
            <a:off x="514350" y="3414713"/>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27" name="Google Shape;727;p41"/>
          <p:cNvSpPr/>
          <p:nvPr/>
        </p:nvSpPr>
        <p:spPr>
          <a:xfrm>
            <a:off x="514350" y="3557588"/>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1" i="0" lang="en" sz="900">
                <a:solidFill>
                  <a:srgbClr val="25251F"/>
                </a:solidFill>
                <a:latin typeface="Arial"/>
                <a:ea typeface="Arial"/>
                <a:cs typeface="Arial"/>
                <a:sym typeface="Arial"/>
              </a:rPr>
              <a:t>Current status</a:t>
            </a:r>
            <a:endParaRPr sz="1100"/>
          </a:p>
        </p:txBody>
      </p:sp>
      <p:sp>
        <p:nvSpPr>
          <p:cNvPr id="728" name="Google Shape;728;p41"/>
          <p:cNvSpPr/>
          <p:nvPr/>
        </p:nvSpPr>
        <p:spPr>
          <a:xfrm>
            <a:off x="2443163" y="3557588"/>
            <a:ext cx="18002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Hard constraints pass</a:t>
            </a:r>
            <a:endParaRPr sz="1100"/>
          </a:p>
        </p:txBody>
      </p:sp>
      <p:sp>
        <p:nvSpPr>
          <p:cNvPr id="729" name="Google Shape;729;p41"/>
          <p:cNvSpPr/>
          <p:nvPr/>
        </p:nvSpPr>
        <p:spPr>
          <a:xfrm>
            <a:off x="4371975" y="3557588"/>
            <a:ext cx="168592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900"/>
              <a:buFont typeface="Arial"/>
              <a:buNone/>
            </a:pPr>
            <a:r>
              <a:rPr b="0" i="0" lang="en" sz="900">
                <a:solidFill>
                  <a:srgbClr val="25251F"/>
                </a:solidFill>
                <a:latin typeface="Arial"/>
                <a:ea typeface="Arial"/>
                <a:cs typeface="Arial"/>
                <a:sym typeface="Arial"/>
              </a:rPr>
              <a:t>Awaiting owner</a:t>
            </a:r>
            <a:endParaRPr sz="1100"/>
          </a:p>
        </p:txBody>
      </p:sp>
      <p:sp>
        <p:nvSpPr>
          <p:cNvPr id="730" name="Google Shape;730;p41"/>
          <p:cNvSpPr/>
          <p:nvPr/>
        </p:nvSpPr>
        <p:spPr>
          <a:xfrm>
            <a:off x="6186488" y="3557588"/>
            <a:ext cx="1400175" cy="21431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900"/>
              <a:buFont typeface="Arial"/>
              <a:buNone/>
            </a:pPr>
            <a:r>
              <a:rPr b="1" i="0" lang="en" sz="900">
                <a:solidFill>
                  <a:srgbClr val="4F78ED"/>
                </a:solidFill>
                <a:latin typeface="Arial"/>
                <a:ea typeface="Arial"/>
                <a:cs typeface="Arial"/>
                <a:sym typeface="Arial"/>
              </a:rPr>
              <a:t>No activation yet</a:t>
            </a:r>
            <a:endParaRPr sz="1100"/>
          </a:p>
        </p:txBody>
      </p:sp>
      <p:sp>
        <p:nvSpPr>
          <p:cNvPr id="731" name="Google Shape;731;p41"/>
          <p:cNvSpPr/>
          <p:nvPr/>
        </p:nvSpPr>
        <p:spPr>
          <a:xfrm>
            <a:off x="514350" y="3886200"/>
            <a:ext cx="7200900"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2" name="Google Shape;732;p41"/>
          <p:cNvSpPr/>
          <p:nvPr/>
        </p:nvSpPr>
        <p:spPr>
          <a:xfrm>
            <a:off x="514350" y="4214813"/>
            <a:ext cx="6072188"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1000"/>
              <a:buFont typeface="Arial"/>
              <a:buNone/>
            </a:pPr>
            <a:r>
              <a:rPr b="1" i="0" lang="en" sz="1000">
                <a:solidFill>
                  <a:srgbClr val="25251F"/>
                </a:solidFill>
                <a:latin typeface="Arial"/>
                <a:ea typeface="Arial"/>
                <a:cs typeface="Arial"/>
                <a:sym typeface="Arial"/>
              </a:rPr>
              <a:t>Policy adapts only through a versioned, governed lane.</a:t>
            </a:r>
            <a:endParaRPr sz="1100"/>
          </a:p>
        </p:txBody>
      </p:sp>
      <p:sp>
        <p:nvSpPr>
          <p:cNvPr id="733" name="Google Shape;733;p41"/>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4" name="Google Shape;734;p41"/>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735" name="Google Shape;735;p41"/>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25</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740" name="Shape 740"/>
        <p:cNvGrpSpPr/>
        <p:nvPr/>
      </p:nvGrpSpPr>
      <p:grpSpPr>
        <a:xfrm>
          <a:off x="0" y="0"/>
          <a:ext cx="0" cy="0"/>
          <a:chOff x="0" y="0"/>
          <a:chExt cx="0" cy="0"/>
        </a:xfrm>
      </p:grpSpPr>
      <p:sp>
        <p:nvSpPr>
          <p:cNvPr id="741" name="Google Shape;741;p42"/>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QUESTIONS</a:t>
            </a:r>
            <a:endParaRPr sz="1100"/>
          </a:p>
        </p:txBody>
      </p:sp>
      <p:sp>
        <p:nvSpPr>
          <p:cNvPr id="742" name="Google Shape;742;p42"/>
          <p:cNvSpPr/>
          <p:nvPr/>
        </p:nvSpPr>
        <p:spPr>
          <a:xfrm>
            <a:off x="514350" y="1100138"/>
            <a:ext cx="6715125" cy="6143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3200"/>
              <a:buFont typeface="Georgia"/>
              <a:buNone/>
            </a:pPr>
            <a:r>
              <a:rPr b="1" i="0" lang="en" sz="3200">
                <a:solidFill>
                  <a:srgbClr val="25251F"/>
                </a:solidFill>
                <a:latin typeface="Georgia"/>
                <a:ea typeface="Georgia"/>
                <a:cs typeface="Georgia"/>
                <a:sym typeface="Georgia"/>
              </a:rPr>
              <a:t>Any questions?</a:t>
            </a:r>
            <a:endParaRPr sz="1100"/>
          </a:p>
        </p:txBody>
      </p:sp>
      <p:sp>
        <p:nvSpPr>
          <p:cNvPr id="743" name="Google Shape;743;p42"/>
          <p:cNvSpPr/>
          <p:nvPr/>
        </p:nvSpPr>
        <p:spPr>
          <a:xfrm>
            <a:off x="514350" y="2043113"/>
            <a:ext cx="985838" cy="5715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4" name="Google Shape;744;p42"/>
          <p:cNvSpPr/>
          <p:nvPr/>
        </p:nvSpPr>
        <p:spPr>
          <a:xfrm>
            <a:off x="1571625" y="2043113"/>
            <a:ext cx="557213" cy="5715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5" name="Google Shape;745;p42"/>
          <p:cNvSpPr/>
          <p:nvPr/>
        </p:nvSpPr>
        <p:spPr>
          <a:xfrm>
            <a:off x="2200275" y="2043113"/>
            <a:ext cx="214313" cy="57150"/>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6" name="Google Shape;746;p42"/>
          <p:cNvSpPr/>
          <p:nvPr/>
        </p:nvSpPr>
        <p:spPr>
          <a:xfrm>
            <a:off x="514350" y="2500313"/>
            <a:ext cx="6143625"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300"/>
              <a:buFont typeface="Arial"/>
              <a:buNone/>
            </a:pPr>
            <a:r>
              <a:rPr b="0" i="0" lang="en" sz="1300">
                <a:solidFill>
                  <a:srgbClr val="5C5B55"/>
                </a:solidFill>
                <a:latin typeface="Arial"/>
                <a:ea typeface="Arial"/>
                <a:cs typeface="Arial"/>
                <a:sym typeface="Arial"/>
              </a:rPr>
              <a:t>What should your agent remember—and who will own the answer?</a:t>
            </a:r>
            <a:endParaRPr sz="1100"/>
          </a:p>
        </p:txBody>
      </p:sp>
      <p:sp>
        <p:nvSpPr>
          <p:cNvPr id="747" name="Google Shape;747;p42"/>
          <p:cNvSpPr/>
          <p:nvPr/>
        </p:nvSpPr>
        <p:spPr>
          <a:xfrm>
            <a:off x="514350" y="3600450"/>
            <a:ext cx="18573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BEN LABASCHIN</a:t>
            </a:r>
            <a:endParaRPr sz="1100"/>
          </a:p>
        </p:txBody>
      </p:sp>
      <p:sp>
        <p:nvSpPr>
          <p:cNvPr id="748" name="Google Shape;748;p42"/>
          <p:cNvSpPr/>
          <p:nvPr/>
        </p:nvSpPr>
        <p:spPr>
          <a:xfrm>
            <a:off x="514350" y="3871913"/>
            <a:ext cx="3714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900"/>
              <a:buFont typeface="Arial"/>
              <a:buNone/>
            </a:pPr>
            <a:r>
              <a:rPr b="0" i="0" lang="en" sz="900">
                <a:solidFill>
                  <a:srgbClr val="918B82"/>
                </a:solidFill>
                <a:latin typeface="Arial"/>
                <a:ea typeface="Arial"/>
                <a:cs typeface="Arial"/>
                <a:sym typeface="Arial"/>
              </a:rPr>
              <a:t>econoben.dev   ·   O’Reilly Author</a:t>
            </a:r>
            <a:endParaRPr sz="1100"/>
          </a:p>
        </p:txBody>
      </p:sp>
      <p:sp>
        <p:nvSpPr>
          <p:cNvPr id="749" name="Google Shape;749;p42"/>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0" name="Google Shape;750;p42"/>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751" name="Google Shape;751;p42"/>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26</a:t>
            </a:r>
            <a:endParaRPr sz="1100"/>
          </a:p>
        </p:txBody>
      </p:sp>
      <p:pic>
        <p:nvPicPr>
          <p:cNvPr id="752" name="Google Shape;752;p42"/>
          <p:cNvPicPr preferRelativeResize="0"/>
          <p:nvPr/>
        </p:nvPicPr>
        <p:blipFill rotWithShape="1">
          <a:blip r:embed="rId3">
            <a:alphaModFix/>
          </a:blip>
          <a:srcRect b="0" l="0" r="0" t="0"/>
          <a:stretch/>
        </p:blipFill>
        <p:spPr>
          <a:xfrm>
            <a:off x="8021207" y="3714750"/>
            <a:ext cx="402499" cy="8286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5EC"/>
        </a:solidFill>
      </p:bgPr>
    </p:bg>
    <p:spTree>
      <p:nvGrpSpPr>
        <p:cNvPr id="757" name="Shape 757"/>
        <p:cNvGrpSpPr/>
        <p:nvPr/>
      </p:nvGrpSpPr>
      <p:grpSpPr>
        <a:xfrm>
          <a:off x="0" y="0"/>
          <a:ext cx="0" cy="0"/>
          <a:chOff x="0" y="0"/>
          <a:chExt cx="0" cy="0"/>
        </a:xfrm>
      </p:grpSpPr>
      <p:sp>
        <p:nvSpPr>
          <p:cNvPr id="758" name="Google Shape;758;p43"/>
          <p:cNvSpPr/>
          <p:nvPr/>
        </p:nvSpPr>
        <p:spPr>
          <a:xfrm>
            <a:off x="514350" y="385763"/>
            <a:ext cx="3071813" cy="1428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F78ED"/>
              </a:buClr>
              <a:buSzPts val="700"/>
              <a:buFont typeface="Arial"/>
              <a:buNone/>
            </a:pPr>
            <a:r>
              <a:rPr b="1" i="0" lang="en" sz="700">
                <a:solidFill>
                  <a:srgbClr val="4F78ED"/>
                </a:solidFill>
                <a:latin typeface="Arial"/>
                <a:ea typeface="Arial"/>
                <a:cs typeface="Arial"/>
                <a:sym typeface="Arial"/>
              </a:rPr>
              <a:t>THANK YOU</a:t>
            </a:r>
            <a:endParaRPr sz="1100"/>
          </a:p>
        </p:txBody>
      </p:sp>
      <p:sp>
        <p:nvSpPr>
          <p:cNvPr id="759" name="Google Shape;759;p43"/>
          <p:cNvSpPr/>
          <p:nvPr/>
        </p:nvSpPr>
        <p:spPr>
          <a:xfrm>
            <a:off x="514350" y="1100138"/>
            <a:ext cx="6715125" cy="6143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5251F"/>
              </a:buClr>
              <a:buSzPts val="3200"/>
              <a:buFont typeface="Georgia"/>
              <a:buNone/>
            </a:pPr>
            <a:r>
              <a:rPr b="1" i="0" lang="en" sz="3200">
                <a:solidFill>
                  <a:srgbClr val="25251F"/>
                </a:solidFill>
                <a:latin typeface="Georgia"/>
                <a:ea typeface="Georgia"/>
                <a:cs typeface="Georgia"/>
                <a:sym typeface="Georgia"/>
              </a:rPr>
              <a:t>Thank you.</a:t>
            </a:r>
            <a:endParaRPr sz="1100"/>
          </a:p>
        </p:txBody>
      </p:sp>
      <p:sp>
        <p:nvSpPr>
          <p:cNvPr id="760" name="Google Shape;760;p43"/>
          <p:cNvSpPr/>
          <p:nvPr/>
        </p:nvSpPr>
        <p:spPr>
          <a:xfrm>
            <a:off x="514350" y="2043113"/>
            <a:ext cx="985838" cy="57150"/>
          </a:xfrm>
          <a:prstGeom prst="roundRect">
            <a:avLst>
              <a:gd fmla="val 50000" name="adj"/>
            </a:avLst>
          </a:prstGeom>
          <a:solidFill>
            <a:srgbClr val="F1872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1" name="Google Shape;761;p43"/>
          <p:cNvSpPr/>
          <p:nvPr/>
        </p:nvSpPr>
        <p:spPr>
          <a:xfrm>
            <a:off x="1571625" y="2043113"/>
            <a:ext cx="557213" cy="57150"/>
          </a:xfrm>
          <a:prstGeom prst="roundRect">
            <a:avLst>
              <a:gd fmla="val 50000" name="adj"/>
            </a:avLst>
          </a:prstGeom>
          <a:solidFill>
            <a:srgbClr val="4EB9A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2" name="Google Shape;762;p43"/>
          <p:cNvSpPr/>
          <p:nvPr/>
        </p:nvSpPr>
        <p:spPr>
          <a:xfrm>
            <a:off x="2200275" y="2043113"/>
            <a:ext cx="214313" cy="57150"/>
          </a:xfrm>
          <a:prstGeom prst="roundRect">
            <a:avLst>
              <a:gd fmla="val 50000" name="adj"/>
            </a:avLst>
          </a:prstGeom>
          <a:solidFill>
            <a:srgbClr val="4F78E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3" name="Google Shape;763;p43"/>
          <p:cNvSpPr/>
          <p:nvPr/>
        </p:nvSpPr>
        <p:spPr>
          <a:xfrm>
            <a:off x="514350" y="2500313"/>
            <a:ext cx="6143625" cy="44291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C5B55"/>
              </a:buClr>
              <a:buSzPts val="1300"/>
              <a:buFont typeface="Arial"/>
              <a:buNone/>
            </a:pPr>
            <a:r>
              <a:rPr b="0" i="0" lang="en" sz="1300">
                <a:solidFill>
                  <a:srgbClr val="5C5B55"/>
                </a:solidFill>
                <a:latin typeface="Arial"/>
                <a:ea typeface="Arial"/>
                <a:cs typeface="Arial"/>
                <a:sym typeface="Arial"/>
              </a:rPr>
              <a:t>Route the evidence. Govern the lifecycle. Measure the action.</a:t>
            </a:r>
            <a:endParaRPr sz="1100"/>
          </a:p>
        </p:txBody>
      </p:sp>
      <p:sp>
        <p:nvSpPr>
          <p:cNvPr id="764" name="Google Shape;764;p43"/>
          <p:cNvSpPr/>
          <p:nvPr/>
        </p:nvSpPr>
        <p:spPr>
          <a:xfrm>
            <a:off x="514350" y="3600450"/>
            <a:ext cx="1857375" cy="1571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B9A5"/>
              </a:buClr>
              <a:buSzPts val="700"/>
              <a:buFont typeface="Arial"/>
              <a:buNone/>
            </a:pPr>
            <a:r>
              <a:rPr b="1" i="0" lang="en" sz="700">
                <a:solidFill>
                  <a:srgbClr val="4EB9A5"/>
                </a:solidFill>
                <a:latin typeface="Arial"/>
                <a:ea typeface="Arial"/>
                <a:cs typeface="Arial"/>
                <a:sym typeface="Arial"/>
              </a:rPr>
              <a:t>BEN LABASCHIN</a:t>
            </a:r>
            <a:endParaRPr sz="1100"/>
          </a:p>
        </p:txBody>
      </p:sp>
      <p:sp>
        <p:nvSpPr>
          <p:cNvPr id="765" name="Google Shape;765;p43"/>
          <p:cNvSpPr/>
          <p:nvPr/>
        </p:nvSpPr>
        <p:spPr>
          <a:xfrm>
            <a:off x="514350" y="3871913"/>
            <a:ext cx="3714750" cy="185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900"/>
              <a:buFont typeface="Arial"/>
              <a:buNone/>
            </a:pPr>
            <a:r>
              <a:rPr b="0" i="0" lang="en" sz="900">
                <a:solidFill>
                  <a:srgbClr val="918B82"/>
                </a:solidFill>
                <a:latin typeface="Arial"/>
                <a:ea typeface="Arial"/>
                <a:cs typeface="Arial"/>
                <a:sym typeface="Arial"/>
              </a:rPr>
              <a:t>econoben.dev   ·   O’Reilly Author</a:t>
            </a:r>
            <a:endParaRPr sz="1100"/>
          </a:p>
        </p:txBody>
      </p:sp>
      <p:sp>
        <p:nvSpPr>
          <p:cNvPr id="766" name="Google Shape;766;p43"/>
          <p:cNvSpPr/>
          <p:nvPr/>
        </p:nvSpPr>
        <p:spPr>
          <a:xfrm>
            <a:off x="7843838" y="4543425"/>
            <a:ext cx="785813" cy="7144"/>
          </a:xfrm>
          <a:prstGeom prst="rect">
            <a:avLst/>
          </a:prstGeom>
          <a:solidFill>
            <a:srgbClr val="E9E0D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7" name="Google Shape;767;p43"/>
          <p:cNvSpPr/>
          <p:nvPr/>
        </p:nvSpPr>
        <p:spPr>
          <a:xfrm>
            <a:off x="514350" y="4686300"/>
            <a:ext cx="1857375" cy="1285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AGENT MEMORY</a:t>
            </a:r>
            <a:endParaRPr sz="1100"/>
          </a:p>
        </p:txBody>
      </p:sp>
      <p:sp>
        <p:nvSpPr>
          <p:cNvPr id="768" name="Google Shape;768;p43"/>
          <p:cNvSpPr/>
          <p:nvPr/>
        </p:nvSpPr>
        <p:spPr>
          <a:xfrm>
            <a:off x="8443913" y="4686300"/>
            <a:ext cx="185738" cy="128588"/>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918B82"/>
              </a:buClr>
              <a:buSzPts val="600"/>
              <a:buFont typeface="Arial"/>
              <a:buNone/>
            </a:pPr>
            <a:r>
              <a:rPr b="1" i="0" lang="en" sz="600">
                <a:solidFill>
                  <a:srgbClr val="918B82"/>
                </a:solidFill>
                <a:latin typeface="Arial"/>
                <a:ea typeface="Arial"/>
                <a:cs typeface="Arial"/>
                <a:sym typeface="Arial"/>
              </a:rPr>
              <a:t>27</a:t>
            </a:r>
            <a:endParaRPr sz="1100"/>
          </a:p>
        </p:txBody>
      </p:sp>
      <p:pic>
        <p:nvPicPr>
          <p:cNvPr id="769" name="Google Shape;769;p43"/>
          <p:cNvPicPr preferRelativeResize="0"/>
          <p:nvPr/>
        </p:nvPicPr>
        <p:blipFill rotWithShape="1">
          <a:blip r:embed="rId3">
            <a:alphaModFix/>
          </a:blip>
          <a:srcRect b="0" l="0" r="0" t="0"/>
          <a:stretch/>
        </p:blipFill>
        <p:spPr>
          <a:xfrm>
            <a:off x="7985408" y="3714750"/>
            <a:ext cx="474098" cy="828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